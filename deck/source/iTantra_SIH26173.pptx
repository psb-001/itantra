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xml" ContentType="application/xml"/>
  <Default Extension="rels" ContentType="application/vnd.openxmlformats-package.relationships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presProps" Target="presProps.xml" /><Relationship Id="rId7" Type="http://schemas.openxmlformats.org/officeDocument/2006/relationships/notesMaster" Target="notesMasters/notesMaster1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10" Type="http://schemas.openxmlformats.org/officeDocument/2006/relationships/viewProps" Target="viewProps.xml" /><Relationship Id="rId2" Type="http://schemas.openxmlformats.org/officeDocument/2006/relationships/slide" Target="slides/slide2.xml" /><Relationship Id="rId9" Type="http://schemas.openxmlformats.org/officeDocument/2006/relationships/tableStyles" Target="tableStyles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2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3" Type="http://schemas.openxmlformats.org/officeDocument/2006/relationships/image" Target="media/image4.svg" /><Relationship Id="rId2" Type="http://schemas.openxmlformats.org/officeDocument/2006/relationships/image" Target="media/image3.sv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5" Type="http://schemas.openxmlformats.org/officeDocument/2006/relationships/image" Target="media/image8.svg" /><Relationship Id="rId3" Type="http://schemas.openxmlformats.org/officeDocument/2006/relationships/image" Target="media/image6.svg" /><Relationship Id="rId4" Type="http://schemas.openxmlformats.org/officeDocument/2006/relationships/image" Target="media/image7.svg" /><Relationship Id="rId2" Type="http://schemas.openxmlformats.org/officeDocument/2006/relationships/image" Target="media/image5.sv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5" Type="http://schemas.openxmlformats.org/officeDocument/2006/relationships/image" Target="media/image12.svg" /><Relationship Id="rId6" Type="http://schemas.openxmlformats.org/officeDocument/2006/relationships/image" Target="media/image13.svg" /><Relationship Id="rId3" Type="http://schemas.openxmlformats.org/officeDocument/2006/relationships/image" Target="media/image10.svg" /><Relationship Id="rId2" Type="http://schemas.openxmlformats.org/officeDocument/2006/relationships/image" Target="media/image9.svg" /><Relationship Id="rId4" Type="http://schemas.openxmlformats.org/officeDocument/2006/relationships/image" Target="media/image11.svg" /><Relationship Id="rId7" Type="http://schemas.openxmlformats.org/officeDocument/2006/relationships/image" Target="media/image14.sv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adding: '40px 48px', background: '#FFFFFF', fontFamily: 'Calibri', display: 'flex', flexDirection: 'column' }}&gt;&#10;&#10;    &lt;Box style={{ flexDirection: 'row', alignItems: 'center', height: 62 }}&gt;&#10;        &lt;Box style={{ width: 150 }} /&gt;&#10;        &lt;Box style={{ flex: 1, alignItems: 'center' }}&gt;&#10;            &lt;Text style={{ fontSize: 46, fontWeight: 'bold', fontFamily: 'Times New Roman', color: '#01467D', letterSpacing: 1, textAlign: 'center' }}&gt;&#10;                SMART INDIA HACKATHON &lt;span style={{ color: '#E46C0A' }}&gt;2026&lt;/span&gt;&#10;            &lt;/Text&gt;&#10;        &lt;/Box&gt;&#10;        &lt;Box style={{ width: 150, alignItems: 'flex-end' }}&gt;&#10;            &lt;Image src='assets/sih_logo.png' style={{ width: 140, height: 66 }} /&gt;&#10;        &lt;/Box&gt;&#10;    &lt;/Box&gt;&#10;&#10;    &lt;Box style={{ height: 3, background: '#01467D', marginTop: 10 }} /&gt;&#10;&#10;    &lt;Box style={{ flexDirection: 'row', alignItems: 'center', marginTop: 18, height: 26 }}&gt;&#10;        &lt;Text style={{ fontSize: 17, color: '#5F5E5A' }}&gt;&#10;            Idea Submission &amp;nbsp;·&amp;nbsp; Organised by the Indian Space Research Organisation (ISRO)&#10;        &lt;/Text&gt;&#10;        &lt;Box style={{ flex: 1 }} /&gt;&#10;        &lt;Text style={{ fontSize: 17, color: '#5F5E5A' }}&gt;&#10;            Problem Statement &lt;span style={{ fontWeight: 'bold', color: '#01467D' }}&gt;SIH26173&lt;/span&gt;&#10;        &lt;/Text&gt;&#10;    &lt;/Box&gt;&#10;&#10;    &lt;Box style={{ flexDirection: 'row', gap: 36, marginTop: 26, height: 496, alignItems: 'stretch' }}&gt;&#10;&#10;        &lt;Box style={{ flex: 1.25, flexDirection: 'column', gap: 10 }}&gt;&#10;            {[&#10;                { k: 'Problem Statement ID', v: 'SIH26173' },&#10;                { k: 'Problem Statement Title', v: 'iTantra — Indian Multilingual TTS &amp; STT Aided Neural Transceiver Radio Access for low bitrate links' },&#10;                { k: 'Theme', v: 'Smart Automation' },&#10;                { k: 'PS Category', v: 'Software' },&#10;                { k: 'Team ID', v: '[PORTAL TEAM ID]' },&#10;                { k: 'Team Name', v: 'B.J.P (Bug Janta Party)' },&#10;            ].map((f, i) =&gt; (&#10;                &lt;Box key={i} style={{ flex: 1, flexDirection: 'row', alignItems: 'center', gap: 14, padding: '0 16px', background: '#F4F8FC', borderLeft: '3px solid #0070C0', borderRadius: 4 }}&gt;&#10;                    &lt;Text style={{ width: 200, fontSize: 16, fontWeight: 'bold', color: '#01467D', lineHeight: 1.3 }}&gt;{f.k}&lt;/Text&gt;&#10;                    &lt;Text style={{ flex: 1, fontSize: 17, color: '#1A1A1A', lineHeight: 1.3 }}&gt;{f.v}&lt;/Text&gt;&#10;                &lt;/Box&gt;&#10;            ))}&#10;        &lt;/Box&gt;&#10;&#10;        &lt;Box style={{ flex: 1, background: '#01467D', borderRadius: 10, padding: 30, flexDirection: 'column' }}&gt;&#10;            &lt;Text style={{ fontSize: 48, fontWeight: 'bold', fontFamily: 'Times New Roman', color: '#FFFFFF' }}&gt;iTantra&lt;/Text&gt;&#10;            &lt;Text style={{ fontSize: 18, color: '#CFE0F0', marginTop: 6, lineHeight: 1.4 }}&gt;&#10;                Speech in. Text across the link. Speech out.&#10;            &lt;/Text&gt;&#10;&#10;            &lt;Box style={{ height: 2, background: '#2E6FA8', marginTop: 20 }} /&gt;&#10;&#10;            &lt;Text style={{ fontSize: 17, color: '#FFFFFF', marginTop: 20, lineHeight: 1.55 }}&gt;&#10;                An offline Android app that recognises speech on the sending phone, transmits only compact text over Bluetooth or Wi-Fi Direct, and speaks it aloud on the receiving phone.&#10;            &lt;/Text&gt;&#10;&#10;            &lt;Box style={{ flex: 1 }} /&gt;&#10;&#10;            &lt;Box style={{ flexDirection: 'row', gap: 10 }}&gt;&#10;                &lt;Box style={{ padding: '8px 16px', borderRadius: 16, background: '#E46C0A' }}&gt;&#10;                    &lt;Text style={{ fontSize: 15, fontWeight: 'bold', color: '#FFFFFF' }}&gt;Fully offline&lt;/Text&gt;&#10;                &lt;/Box&gt;&#10;                &lt;Box style={{ padding: '8px 16px', borderRadius: 16, border: '1px solid #5B93C4' }}&gt;&#10;                    &lt;Text style={{ fontSize: 15, fontWeight: 'bold', color: '#CFE0F0' }}&gt;10 languages&lt;/Text&gt;&#10;                &lt;/Box&gt;&#10;            &lt;/Box&gt;&#10;&#10;            &lt;Text style={{ fontSize: 13, color: '#9FC0DC', marginTop: 14 }}&gt;&#10;                No cloud speech API &amp;nbsp;·&amp;nbsp; On-device processing &amp;nbsp;·&amp;nbsp; Text-only communication&#10;            &lt;/Text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2476500" y="409575"/>
            <a:ext cx="7248525" cy="533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450" b="1" spc="75">
                <a:solidFill>
                  <a:srgbClr val="01467D"/>
                </a:solidFill>
                <a:latin typeface="Times New Roman"/>
                <a:ea typeface="Times New Roman"/>
              </a:rPr>
              <a:t>SMART INDIA HACKATHON </a:t>
            </a:r>
            <a:r>
              <a:rPr lang="en-US" sz="3450" b="1" spc="75">
                <a:solidFill>
                  <a:srgbClr val="E46C0A"/>
                </a:solidFill>
                <a:latin typeface="Times New Roman"/>
                <a:ea typeface="Times New Roman"/>
              </a:rPr>
              <a:t>2026</a:t>
            </a:r>
            <a:endParaRPr/>
          </a:p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rId1"/>
          <a:srcRect l="0" t="84" r="0" b="84"/>
          <a:stretch>
            <a:fillRect/>
          </a:stretch>
        </p:blipFill>
        <p:spPr>
          <a:xfrm rot="0" flipH="0" flipV="0">
            <a:off x="10401300" y="361950"/>
            <a:ext cx="1333500" cy="628650"/>
          </a:xfrm>
          <a:prstGeom prst="rect">
            <a:avLst/>
          </a:prstGeom>
          <a:ln/>
        </p:spPr>
      </p:pic>
      <p:sp>
        <p:nvSpPr>
          <p:cNvPr id="5" name=""/>
          <p:cNvSpPr/>
          <p:nvPr/>
        </p:nvSpPr>
        <p:spPr>
          <a:xfrm rot="0" flipH="0" flipV="0">
            <a:off x="457200" y="1066800"/>
            <a:ext cx="11277600" cy="28575"/>
          </a:xfrm>
          <a:prstGeom prst="rect">
            <a:avLst/>
          </a:prstGeom>
          <a:solidFill>
            <a:srgbClr val="01467D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457200" y="129540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5F5E5A"/>
                </a:solidFill>
                <a:latin typeface="Calibri"/>
                <a:ea typeface="Calibri"/>
              </a:rPr>
              <a:t>Idea Submission  ·  Organised by the Indian Space Research Organisation (ISRO)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582150" y="1295400"/>
            <a:ext cx="2152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5F5E5A"/>
                </a:solidFill>
                <a:latin typeface="Calibri"/>
                <a:ea typeface="Calibri"/>
              </a:rPr>
              <a:t>Problem Statement </a:t>
            </a:r>
            <a:r>
              <a:rPr lang="en-US" sz="1275" b="1">
                <a:solidFill>
                  <a:srgbClr val="01467D"/>
                </a:solidFill>
                <a:latin typeface="Calibri"/>
                <a:ea typeface="Calibri"/>
              </a:rPr>
              <a:t>SIH26173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485775" y="1762125"/>
            <a:ext cx="6076950" cy="628650"/>
          </a:xfrm>
          <a:prstGeom prst="roundRect">
            <a:avLst>
              <a:gd name="adj" fmla="val 6061"/>
            </a:avLst>
          </a:prstGeom>
          <a:solidFill>
            <a:srgbClr val="F4F8FC"/>
          </a:solidFill>
          <a:ln/>
        </p:spPr>
        <p:txBody>
          <a:bodyPr/>
          <a:p/>
        </p:txBody>
      </p:sp>
      <p:sp>
        <p:nvSpPr>
          <p:cNvPr id="9" name=""/>
          <p:cNvSpPr/>
          <p:nvPr/>
        </p:nvSpPr>
        <p:spPr>
          <a:xfrm rot="0" flipH="0" flipV="0">
            <a:off x="485775" y="1762125"/>
            <a:ext cx="6076950" cy="628650"/>
          </a:xfrm>
          <a:custGeom>
            <a:pathLst>
              <a:path w="638" h="66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5"/>
                </a:lnTo>
                <a:cubicBezTo>
                  <a:pt x="3" y="65"/>
                  <a:pt x="3" y="66"/>
                  <a:pt x="4" y="66"/>
                </a:cubicBezTo>
                <a:cubicBezTo>
                  <a:pt x="2" y="66"/>
                  <a:pt x="0" y="64"/>
                  <a:pt x="0" y="6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070C0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38175" y="1962150"/>
            <a:ext cx="1905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01467D"/>
                </a:solidFill>
                <a:latin typeface="Calibri"/>
                <a:ea typeface="Calibri"/>
              </a:rPr>
              <a:t>Problem Statement ID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676525" y="1952625"/>
            <a:ext cx="370522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>
                <a:solidFill>
                  <a:srgbClr val="1A1A1A"/>
                </a:solidFill>
                <a:latin typeface="Calibri"/>
                <a:ea typeface="Calibri"/>
              </a:rPr>
              <a:t>SIH26173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485775" y="2486025"/>
            <a:ext cx="6076950" cy="1123950"/>
          </a:xfrm>
          <a:prstGeom prst="roundRect">
            <a:avLst>
              <a:gd name="adj" fmla="val 3390"/>
            </a:avLst>
          </a:prstGeom>
          <a:solidFill>
            <a:srgbClr val="F4F8FC"/>
          </a:solidFill>
          <a:ln/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485775" y="2486025"/>
            <a:ext cx="6076950" cy="1123950"/>
          </a:xfrm>
          <a:custGeom>
            <a:pathLst>
              <a:path w="638" h="11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17"/>
                </a:lnTo>
                <a:cubicBezTo>
                  <a:pt x="3" y="117"/>
                  <a:pt x="3" y="118"/>
                  <a:pt x="4" y="118"/>
                </a:cubicBezTo>
                <a:cubicBezTo>
                  <a:pt x="2" y="118"/>
                  <a:pt x="0" y="116"/>
                  <a:pt x="0" y="11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070C0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38175" y="2933700"/>
            <a:ext cx="1905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01467D"/>
                </a:solidFill>
                <a:latin typeface="Calibri"/>
                <a:ea typeface="Calibri"/>
              </a:rPr>
              <a:t>Problem Statement Title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676525" y="2667000"/>
            <a:ext cx="370522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1275">
                <a:solidFill>
                  <a:srgbClr val="1A1A1A"/>
                </a:solidFill>
                <a:latin typeface="Calibri"/>
                <a:ea typeface="Calibri"/>
              </a:rPr>
              <a:t>iTantra — Indian Multilingual TTS &amp; STT Aided Neural Transceiver Radio Access for low bitrate links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485775" y="3705225"/>
            <a:ext cx="6076950" cy="628650"/>
          </a:xfrm>
          <a:prstGeom prst="roundRect">
            <a:avLst>
              <a:gd name="adj" fmla="val 6061"/>
            </a:avLst>
          </a:prstGeom>
          <a:solidFill>
            <a:srgbClr val="F4F8FC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485775" y="3705225"/>
            <a:ext cx="6076950" cy="628650"/>
          </a:xfrm>
          <a:custGeom>
            <a:pathLst>
              <a:path w="638" h="66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5"/>
                </a:lnTo>
                <a:cubicBezTo>
                  <a:pt x="3" y="65"/>
                  <a:pt x="3" y="66"/>
                  <a:pt x="4" y="66"/>
                </a:cubicBezTo>
                <a:cubicBezTo>
                  <a:pt x="2" y="66"/>
                  <a:pt x="0" y="64"/>
                  <a:pt x="0" y="6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070C0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38175" y="3905250"/>
            <a:ext cx="1905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01467D"/>
                </a:solidFill>
                <a:latin typeface="Calibri"/>
                <a:ea typeface="Calibri"/>
              </a:rPr>
              <a:t>Theme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2676525" y="3895725"/>
            <a:ext cx="370522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>
                <a:solidFill>
                  <a:srgbClr val="1A1A1A"/>
                </a:solidFill>
                <a:latin typeface="Calibri"/>
                <a:ea typeface="Calibri"/>
              </a:rPr>
              <a:t>Smart Automation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485775" y="4429125"/>
            <a:ext cx="6076950" cy="619125"/>
          </a:xfrm>
          <a:prstGeom prst="roundRect">
            <a:avLst>
              <a:gd name="adj" fmla="val 6154"/>
            </a:avLst>
          </a:prstGeom>
          <a:solidFill>
            <a:srgbClr val="F4F8FC"/>
          </a:soli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485775" y="4429125"/>
            <a:ext cx="6076950" cy="619125"/>
          </a:xfrm>
          <a:custGeom>
            <a:pathLst>
              <a:path w="638" h="6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4"/>
                </a:lnTo>
                <a:cubicBezTo>
                  <a:pt x="3" y="64"/>
                  <a:pt x="3" y="65"/>
                  <a:pt x="4" y="65"/>
                </a:cubicBezTo>
                <a:cubicBezTo>
                  <a:pt x="2" y="65"/>
                  <a:pt x="0" y="63"/>
                  <a:pt x="0" y="6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070C0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38175" y="4619625"/>
            <a:ext cx="1905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01467D"/>
                </a:solidFill>
                <a:latin typeface="Calibri"/>
                <a:ea typeface="Calibri"/>
              </a:rPr>
              <a:t>PS Category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2676525" y="4610100"/>
            <a:ext cx="370522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>
                <a:solidFill>
                  <a:srgbClr val="1A1A1A"/>
                </a:solidFill>
                <a:latin typeface="Calibri"/>
                <a:ea typeface="Calibri"/>
              </a:rPr>
              <a:t>Software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485775" y="5143500"/>
            <a:ext cx="6076950" cy="628650"/>
          </a:xfrm>
          <a:prstGeom prst="roundRect">
            <a:avLst>
              <a:gd name="adj" fmla="val 6061"/>
            </a:avLst>
          </a:prstGeom>
          <a:solidFill>
            <a:srgbClr val="F4F8FC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485775" y="5143500"/>
            <a:ext cx="6076950" cy="628650"/>
          </a:xfrm>
          <a:custGeom>
            <a:pathLst>
              <a:path w="638" h="66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5"/>
                </a:lnTo>
                <a:cubicBezTo>
                  <a:pt x="3" y="65"/>
                  <a:pt x="3" y="66"/>
                  <a:pt x="4" y="66"/>
                </a:cubicBezTo>
                <a:cubicBezTo>
                  <a:pt x="2" y="66"/>
                  <a:pt x="0" y="64"/>
                  <a:pt x="0" y="6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070C0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38175" y="5343525"/>
            <a:ext cx="1905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01467D"/>
                </a:solidFill>
                <a:latin typeface="Calibri"/>
                <a:ea typeface="Calibri"/>
              </a:rPr>
              <a:t>Team ID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2676525" y="5334000"/>
            <a:ext cx="370522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>
                <a:solidFill>
                  <a:srgbClr val="1A1A1A"/>
                </a:solidFill>
                <a:latin typeface="Calibri"/>
                <a:ea typeface="Calibri"/>
              </a:rPr>
              <a:t>[PORTAL TEAM ID]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85775" y="5867400"/>
            <a:ext cx="6076950" cy="619125"/>
          </a:xfrm>
          <a:prstGeom prst="roundRect">
            <a:avLst>
              <a:gd name="adj" fmla="val 6154"/>
            </a:avLst>
          </a:prstGeom>
          <a:solidFill>
            <a:srgbClr val="F4F8FC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485775" y="5867400"/>
            <a:ext cx="6076950" cy="619125"/>
          </a:xfrm>
          <a:custGeom>
            <a:pathLst>
              <a:path w="638" h="6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4"/>
                </a:lnTo>
                <a:cubicBezTo>
                  <a:pt x="3" y="64"/>
                  <a:pt x="3" y="65"/>
                  <a:pt x="4" y="65"/>
                </a:cubicBezTo>
                <a:cubicBezTo>
                  <a:pt x="2" y="65"/>
                  <a:pt x="0" y="63"/>
                  <a:pt x="0" y="6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070C0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38175" y="6057900"/>
            <a:ext cx="1905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01467D"/>
                </a:solidFill>
                <a:latin typeface="Calibri"/>
                <a:ea typeface="Calibri"/>
              </a:rPr>
              <a:t>Team Name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676525" y="6048375"/>
            <a:ext cx="370522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>
                <a:solidFill>
                  <a:srgbClr val="1A1A1A"/>
                </a:solidFill>
                <a:latin typeface="Calibri"/>
                <a:ea typeface="Calibri"/>
              </a:rPr>
              <a:t>B.J.P (Bug Janta Party)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877050" y="1762125"/>
            <a:ext cx="4857750" cy="4724400"/>
          </a:xfrm>
          <a:prstGeom prst="roundRect">
            <a:avLst>
              <a:gd name="adj" fmla="val 2016"/>
            </a:avLst>
          </a:prstGeom>
          <a:solidFill>
            <a:srgbClr val="01467D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162800" y="2047875"/>
            <a:ext cx="42862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/>
                </a:solidFill>
                <a:latin typeface="Times New Roman"/>
                <a:ea typeface="Times New Roman"/>
              </a:rPr>
              <a:t>iTantra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162800" y="2657475"/>
            <a:ext cx="42862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CFE0F0"/>
                </a:solidFill>
                <a:latin typeface="Calibri"/>
                <a:ea typeface="Calibri"/>
              </a:rPr>
              <a:t>Speech in. Text across the link. Speech out.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7162800" y="3143250"/>
            <a:ext cx="4286250" cy="19050"/>
          </a:xfrm>
          <a:prstGeom prst="rect">
            <a:avLst/>
          </a:prstGeom>
          <a:solidFill>
            <a:srgbClr val="2E6FA8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162800" y="3352800"/>
            <a:ext cx="42862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FFFFFF"/>
                </a:solidFill>
                <a:latin typeface="Calibri"/>
                <a:ea typeface="Calibri"/>
              </a:rPr>
              <a:t>An offline Android app that recognises speech on the sending phone, transmits only compact text over Bluetooth or Wi-Fi Direct, and speaks it aloud on the receiving phone.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7162800" y="5591175"/>
            <a:ext cx="1114425" cy="323850"/>
          </a:xfrm>
          <a:prstGeom prst="roundRect">
            <a:avLst>
              <a:gd name="adj" fmla="val 47059"/>
            </a:avLst>
          </a:prstGeom>
          <a:solidFill>
            <a:srgbClr val="E46C0A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315200" y="5667375"/>
            <a:ext cx="809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Calibri"/>
                <a:ea typeface="Calibri"/>
              </a:rPr>
              <a:t>Fully offline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372475" y="5591175"/>
            <a:ext cx="1219200" cy="323850"/>
          </a:xfrm>
          <a:prstGeom prst="roundRect">
            <a:avLst>
              <a:gd name="adj" fmla="val 47059"/>
            </a:avLst>
          </a:prstGeom>
          <a:ln w="12700">
            <a:solidFill>
              <a:srgbClr val="5B93C4"/>
            </a:solidFill>
            <a:prstDash val="solid"/>
          </a:ln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524875" y="56673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FE0F0"/>
                </a:solidFill>
                <a:latin typeface="Calibri"/>
                <a:ea typeface="Calibri"/>
              </a:rPr>
              <a:t>10 languages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162800" y="6048375"/>
            <a:ext cx="4286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C0DC"/>
                </a:solidFill>
                <a:latin typeface="Calibri"/>
                <a:ea typeface="Calibri"/>
              </a:rPr>
              <a:t>No cloud speech API  ·  On-device processing  ·  Text-only communication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2" name="" descr="&lt;Slide style={{ width: 1280, height: 720, padding: '34px 48px 78px 48px', background: '#FFFFFF', fontFamily: 'Calibri', display: 'flex', flexDirection: 'column', position: 'relative' }}&gt;&#10;&#10;    &lt;Box style={{ position: 'absolute', left: 0, bottom: 0, width: 1280, height: 56, background: '#0070C0', flexDirection: 'row', alignItems: 'center', padding: '0 48px' }}&gt;&#10;        &lt;Box style={{ width: 210 }}&gt;&#10;            &lt;Text style={{ fontSize: 14, fontWeight: 'bold', color: '#FFFFFF' }}&gt;B.J.P (Bug Janta Party)&lt;/Text&gt;&#10;        &lt;/Box&gt;&#10;        &lt;Box style={{ flex: 1, alignItems: 'center' }}&gt;&#10;            &lt;Text style={{ fontSize: 13, color: '#FFFFFF' }}&gt;@SIH Idea submission- Template&lt;/Text&gt;&#10;        &lt;/Box&gt;&#10;        &lt;Box style={{ width: 210, alignItems: 'flex-end' }}&gt;&#10;            &lt;Text style={{ fontSize: 13, fontWeight: 'bold', color: '#FFFFFF' }}&gt;2 / 6&lt;/Text&gt;&#10;        &lt;/Box&gt;&#10;    &lt;/Box&gt;&#10;&#10;    &lt;Box style={{ flexDirection: 'row', alignItems: 'center', height: 74 }}&gt;&#10;        &lt;Box style={{ width: 150, flexDirection: 'row', alignItems: 'center', justifyContent: 'center', height: 56, borderRadius: 28, border: '1.5px solid #7030A0' }}&gt;&#10;            &lt;Text style={{ fontSize: 13, fontWeight: 'bold', color: '#7030A0', textAlign: 'center', lineHeight: 1.2 }}&gt;B.J.P{'\n'}Bug Janta{'\n'}Party&lt;/Text&gt;&#10;        &lt;/Box&gt;&#10;        &lt;Box style={{ flex: 1, alignItems: 'center' }}&gt;&#10;            &lt;Text style={{ fontSize: 44, fontWeight: 'bold', fontFamily: 'Times New Roman', color: '#1A1A1A', textAlign: 'center' }}&gt;&#10;                iTantra — send voice as &lt;span style={{ color: '#E46C0A' }}&gt;text&lt;/span&gt;, not as audio&#10;            &lt;/Text&gt;&#10;            &lt;Text style={{ fontSize: 18, color: '#5F5E5A', marginTop: 4 }}&gt;IDEA TITLE &amp;nbsp;·&amp;nbsp; Proposed Solution&lt;/Text&gt;&#10;        &lt;/Box&gt;&#10;        &lt;Box style={{ width: 150, alignItems: 'flex-end' }}&gt;&#10;            &lt;Image src='assets/sih_logo.png' style={{ width: 140, height: 66 }} /&gt;&#10;        &lt;/Box&gt;&#10;    &lt;/Box&gt;&#10;&#10;    &lt;Box style={{ flexDirection: 'row', gap: 30, flex: 1, marginTop: 16 }}&gt;&#10;&#10;        &lt;Box style={{ flex: 1.5, flexDirection: 'column' }}&gt;&#10;            &lt;Text style={{ fontSize: 19, fontWeight: 'bold', color: '#01467D' }}&gt;What crosses the link&lt;/Text&gt;&#10;&#10;            &lt;Box style={{ flexDirection: 'row', alignItems: 'center', gap: 8, marginTop: 14 }}&gt;&#10;                {[&#10;                    { n: '1', t: 'VOICE', d: 'Mic, 16 kHz' },&#10;                    { n: '2', t: 'TEXT', d: 'ASR on device' },&#10;                    { n: '3', t: 'TRANSMIT', d: '49–111 bytes' },&#10;                    { n: '4', t: 'VOICE', d: 'TTS on device' },&#10;                ].map((s, i) =&gt; (&#10;                    &lt;Box key={i} style={{ flexDirection: 'row', alignItems: 'center', flex: 1, gap: 8 }}&gt;&#10;                        &lt;Box style={{ flex: 1, height: 128, border: '1px solid #01467D', borderRadius: 6, background: i === 2 ? '#01467D' : '#F4F8FC', alignItems: 'center', justifyContent: 'center', padding: 8 }}&gt;&#10;                            &lt;Text style={{ fontSize: 12, fontWeight: 'bold', color: i === 2 ? '#9FC0DC' : '#0070C0' }}&gt;STEP {s.n}&lt;/Text&gt;&#10;                            &lt;Text style={{ fontSize: 19, fontWeight: 'bold', color: i === 2 ? '#FFFFFF' : '#01467D', marginTop: 6 }}&gt;{s.t}&lt;/Text&gt;&#10;                            &lt;Text style={{ fontSize: 13, color: i === 2 ? '#CFE0F0' : '#5F5E5A', marginTop: 4, textAlign: 'center' }}&gt;{s.d}&lt;/Text&gt;&#10;                        &lt;/Box&gt;&#10;                        {i &lt; 3 ? (&#10;                            &lt;svg width={20} height={20} viewBox='0 0 24 24'&gt;&#10;                                &lt;path d='M5 12h14M13 6l6 6-6 6' fill='none' stroke='#0070C0' strokeWidth='2.5' /&gt;&#10;                            &lt;/svg&gt;&#10;                        ) : null}&#10;                    &lt;/Box&gt;&#10;                ))}&#10;            &lt;/Box&gt;&#10;&#10;            &lt;Box style={{ marginTop: 22, padding: '18px 20px', background: '#F4F8FC', border: '1px solid #B4B2A9', borderRadius: 6 }}&gt;&#10;                &lt;Text style={{ fontSize: 16, fontWeight: 'bold', color: '#01467D' }}&gt;Same sentence, two ways&lt;/Text&gt;&#10;&#10;                &lt;Box style={{ flexDirection: 'row', alignItems: 'center', gap: 12, marginTop: 14 }}&gt;&#10;                    &lt;Text style={{ width: 190, fontSize: 14, color: '#5F5E5A' }}&gt;Raw PCM audio, 3 s&lt;/Text&gt;&#10;                    &lt;Box style={{ flex: 1, height: 22, background: '#B4B2A9', borderRadius: 3 }} /&gt;&#10;                    &lt;Text style={{ width: 70, fontSize: 15, fontWeight: 'bold', color: '#5F5E5A', textAlign: 'right' }}&gt;≈ 93 KB&lt;/Text&gt;&#10;                &lt;/Box&gt;&#10;&#10;                &lt;Box style={{ flexDirection: 'row', alignItems: 'center', gap: 12, marginTop: 10 }}&gt;&#10;                    &lt;Text style={{ width: 190, fontSize: 14, color: '#5F5E5A' }}&gt;iTantra text payload&lt;/Text&gt;&#10;                    &lt;Box style={{ flex: 1, height: 22, alignItems: 'flex-start' }}&gt;&#10;                        &lt;Box style={{ width: 4, height: 22, background: '#E46C0A', borderRadius: 2 }} /&gt;&#10;                    &lt;/Box&gt;&#10;                    &lt;Text style={{ width: 70, fontSize: 15, fontWeight: 'bold', color: '#E46C0A', textAlign: 'right' }}&gt;49–111 B&lt;/Text&gt;&#10;                &lt;/Box&gt;&#10;&#10;                &lt;Text style={{ fontSize: 13, color: '#5F5E5A', marginTop: 12 }}&gt;&#10;                    Measured payload from 4 test utterances. Roughly 1,000× smaller than the equivalent audio.&#10;                &lt;/Text&gt;&#10;            &lt;/Box&gt;&#10;        &lt;/Box&gt;&#10;&#10;        &lt;Box style={{ flex: 1, flexDirection: 'column', gap: 12 }}&gt;&#10;            {[&#10;                { h: 'Proposed solution', b: 'An offline Android app: speech in, text out, a compact packet over Bluetooth or Wi-Fi Direct, speech back out on the receiving phone.' },&#10;                { h: 'Detailed explanation', b: 'Push-to-talk works like a walkie-talkie. When idle, both phones run only a voice-activity detector. The speaker\'s phone carries the ASR cost; the listener\'s phone carries the TTS cost.' },&#10;                { h: 'How it addresses the problem', b: 'Audio is too large for low-bitrate links. One spoken sentence becomes 49–111 bytes of UTF-8 text, so voice fits where it could not before.' },&#10;                { h: 'Innovation and uniqueness', b: 'An asymmetric pipeline — one heavy model per phone. Only 0.6 MB of VAD runs while listening, so idle CPU stays near zero by design.' },&#10;            ].map((c, i) =&gt; (&#10;                &lt;Box key={i} style={{ flex: 1, background: '#FFFFFF', border: '1px solid #B4B2A9', borderLeft: '4px solid #01467D', borderRadius: 4, padding: '10px 14px', justifyContent: 'center' }}&gt;&#10;                    &lt;Text style={{ fontSize: 15, fontWeight: 'bold', color: '#01467D' }}&gt;{c.h}&lt;/Text&gt;&#10;                    &lt;Text style={{ fontSize: 14, color: '#1A1A1A', lineHeight: 1.4, marginTop: 4 }}&gt;{c.b}&lt;/Text&gt;&#10;                &lt;/Box&gt;&#10;            ))}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457200" y="409575"/>
            <a:ext cx="1428750" cy="533400"/>
          </a:xfrm>
          <a:prstGeom prst="roundRect">
            <a:avLst>
              <a:gd name="adj" fmla="val 50000"/>
            </a:avLst>
          </a:prstGeom>
          <a:ln w="1905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76300" y="409575"/>
            <a:ext cx="600075" cy="5429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B.J.P</a:t>
            </a:r>
            <a:endParaRPr/>
          </a:p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Bug Janta</a:t>
            </a:r>
            <a:endParaRPr/>
          </a:p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Party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2381250" y="304800"/>
            <a:ext cx="7429500" cy="504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300" b="1">
                <a:solidFill>
                  <a:srgbClr val="1A1A1A"/>
                </a:solidFill>
                <a:latin typeface="Times New Roman"/>
                <a:ea typeface="Times New Roman"/>
              </a:rPr>
              <a:t>iTantra — send voice as </a:t>
            </a:r>
            <a:r>
              <a:rPr lang="en-US" sz="3300" b="1">
                <a:solidFill>
                  <a:srgbClr val="E46C0A"/>
                </a:solidFill>
                <a:latin typeface="Times New Roman"/>
                <a:ea typeface="Times New Roman"/>
              </a:rPr>
              <a:t>text</a:t>
            </a:r>
            <a:r>
              <a:rPr lang="en-US" sz="3300" b="1">
                <a:solidFill>
                  <a:srgbClr val="1A1A1A"/>
                </a:solidFill>
                <a:latin typeface="Times New Roman"/>
                <a:ea typeface="Times New Roman"/>
              </a:rPr>
              <a:t>, not as audio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819650" y="847725"/>
            <a:ext cx="2562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5F5E5A"/>
                </a:solidFill>
                <a:latin typeface="Calibri"/>
                <a:ea typeface="Calibri"/>
              </a:rPr>
              <a:t>IDEA TITLE  ·  Proposed Solution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 r:embed="rId1"/>
          <a:srcRect l="0" t="84" r="0" b="84"/>
          <a:stretch>
            <a:fillRect/>
          </a:stretch>
        </p:blipFill>
        <p:spPr>
          <a:xfrm rot="0" flipH="0" flipV="0">
            <a:off x="10401300" y="361950"/>
            <a:ext cx="1333500" cy="628650"/>
          </a:xfrm>
          <a:prstGeom prst="rect">
            <a:avLst/>
          </a:prstGeom>
          <a:ln/>
        </p:spPr>
      </p:pic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57200" y="1181100"/>
            <a:ext cx="6591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1467D"/>
                </a:solidFill>
                <a:latin typeface="Calibri"/>
                <a:ea typeface="Calibri"/>
              </a:rPr>
              <a:t>What crosses the link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457200" y="1533525"/>
            <a:ext cx="1323975" cy="1219200"/>
          </a:xfrm>
          <a:prstGeom prst="roundRect">
            <a:avLst>
              <a:gd name="adj" fmla="val 4688"/>
            </a:avLst>
          </a:prstGeom>
          <a:solidFill>
            <a:srgbClr val="F4F8FC"/>
          </a:solidFill>
          <a:ln w="12700">
            <a:solidFill>
              <a:srgbClr val="01467D"/>
            </a:solidFill>
            <a:prstDash val="solid"/>
          </a:ln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923925" y="1838325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070C0"/>
                </a:solidFill>
                <a:latin typeface="Calibri"/>
                <a:ea typeface="Calibri"/>
              </a:rPr>
              <a:t>STEP </a:t>
            </a:r>
            <a:r>
              <a:rPr lang="en-US" sz="900" b="1">
                <a:solidFill>
                  <a:srgbClr val="0070C0"/>
                </a:solidFill>
                <a:latin typeface="Calibri"/>
                <a:ea typeface="Calibri"/>
              </a:rPr>
              <a:t>1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38200" y="2038350"/>
            <a:ext cx="571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1467D"/>
                </a:solidFill>
                <a:latin typeface="Calibri"/>
                <a:ea typeface="Calibri"/>
              </a:rPr>
              <a:t>VOICE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00100" y="2295525"/>
            <a:ext cx="6477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F5E5A"/>
                </a:solidFill>
                <a:latin typeface="Calibri"/>
                <a:ea typeface="Calibri"/>
              </a:rPr>
              <a:t>Mic, 16 kHz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857375" y="2047875"/>
            <a:ext cx="190500" cy="190500"/>
          </a:xfrm>
          <a:prstGeom prst="rect">
            <a:avLst/>
          </a:prstGeom>
          <a:ln/>
        </p:spPr>
      </p:pic>
      <p:sp>
        <p:nvSpPr>
          <p:cNvPr id="55" name=""/>
          <p:cNvSpPr/>
          <p:nvPr/>
        </p:nvSpPr>
        <p:spPr>
          <a:xfrm rot="0" flipH="0" flipV="0">
            <a:off x="2124075" y="1533525"/>
            <a:ext cx="1323975" cy="1219200"/>
          </a:xfrm>
          <a:prstGeom prst="roundRect">
            <a:avLst>
              <a:gd name="adj" fmla="val 4688"/>
            </a:avLst>
          </a:prstGeom>
          <a:solidFill>
            <a:srgbClr val="F4F8FC"/>
          </a:solidFill>
          <a:ln w="12700">
            <a:solidFill>
              <a:srgbClr val="01467D"/>
            </a:solidFill>
            <a:prstDash val="solid"/>
          </a:ln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2590800" y="1838325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070C0"/>
                </a:solidFill>
                <a:latin typeface="Calibri"/>
                <a:ea typeface="Calibri"/>
              </a:rPr>
              <a:t>STEP </a:t>
            </a:r>
            <a:r>
              <a:rPr lang="en-US" sz="900" b="1">
                <a:solidFill>
                  <a:srgbClr val="0070C0"/>
                </a:solidFill>
                <a:latin typeface="Calibri"/>
                <a:ea typeface="Calibri"/>
              </a:rPr>
              <a:t>2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2552700" y="2038350"/>
            <a:ext cx="466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1467D"/>
                </a:solidFill>
                <a:latin typeface="Calibri"/>
                <a:ea typeface="Calibri"/>
              </a:rPr>
              <a:t>TEXT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381250" y="2295525"/>
            <a:ext cx="8191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F5E5A"/>
                </a:solidFill>
                <a:latin typeface="Calibri"/>
                <a:ea typeface="Calibri"/>
              </a:rPr>
              <a:t>ASR on device</a:t>
            </a:r>
            <a:endParaRPr/>
          </a:p>
        </p:txBody>
      </p:sp>
      <p:pic>
        <p:nvPicPr>
          <p:cNvPr id="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524250" y="2047875"/>
            <a:ext cx="190500" cy="190500"/>
          </a:xfrm>
          <a:prstGeom prst="rect">
            <a:avLst/>
          </a:prstGeom>
          <a:ln/>
        </p:spPr>
      </p:pic>
      <p:sp>
        <p:nvSpPr>
          <p:cNvPr id="60" name=""/>
          <p:cNvSpPr/>
          <p:nvPr/>
        </p:nvSpPr>
        <p:spPr>
          <a:xfrm rot="0" flipH="0" flipV="0">
            <a:off x="3790950" y="1533525"/>
            <a:ext cx="1323975" cy="1219200"/>
          </a:xfrm>
          <a:prstGeom prst="roundRect">
            <a:avLst>
              <a:gd name="adj" fmla="val 4688"/>
            </a:avLst>
          </a:prstGeom>
          <a:solidFill>
            <a:srgbClr val="01467D"/>
          </a:solidFill>
          <a:ln w="12700">
            <a:solidFill>
              <a:srgbClr val="01467D"/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257675" y="1838325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FC0DC"/>
                </a:solidFill>
                <a:latin typeface="Calibri"/>
                <a:ea typeface="Calibri"/>
              </a:rPr>
              <a:t>STEP </a:t>
            </a:r>
            <a:r>
              <a:rPr lang="en-US" sz="900" b="1">
                <a:solidFill>
                  <a:srgbClr val="9FC0DC"/>
                </a:solidFill>
                <a:latin typeface="Calibri"/>
                <a:ea typeface="Calibri"/>
              </a:rPr>
              <a:t>3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981450" y="2038350"/>
            <a:ext cx="942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Calibri"/>
                <a:ea typeface="Calibri"/>
              </a:rPr>
              <a:t>TRANSMIT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086225" y="2295525"/>
            <a:ext cx="7334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CFE0F0"/>
                </a:solidFill>
                <a:latin typeface="Calibri"/>
                <a:ea typeface="Calibri"/>
              </a:rPr>
              <a:t>49–111 bytes</a:t>
            </a:r>
            <a:endParaRPr/>
          </a:p>
        </p:txBody>
      </p:sp>
      <p:pic>
        <p:nvPicPr>
          <p:cNvPr id="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191125" y="2047875"/>
            <a:ext cx="190500" cy="190500"/>
          </a:xfrm>
          <a:prstGeom prst="rect">
            <a:avLst/>
          </a:prstGeom>
          <a:ln/>
        </p:spPr>
      </p:pic>
      <p:sp>
        <p:nvSpPr>
          <p:cNvPr id="65" name=""/>
          <p:cNvSpPr/>
          <p:nvPr/>
        </p:nvSpPr>
        <p:spPr>
          <a:xfrm rot="0" flipH="0" flipV="0">
            <a:off x="5457825" y="1533525"/>
            <a:ext cx="1590675" cy="1219200"/>
          </a:xfrm>
          <a:prstGeom prst="roundRect">
            <a:avLst>
              <a:gd name="adj" fmla="val 4688"/>
            </a:avLst>
          </a:prstGeom>
          <a:solidFill>
            <a:srgbClr val="F4F8FC"/>
          </a:solidFill>
          <a:ln w="12700">
            <a:solidFill>
              <a:srgbClr val="01467D"/>
            </a:solidFill>
            <a:prstDash val="solid"/>
          </a:ln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57900" y="1838325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070C0"/>
                </a:solidFill>
                <a:latin typeface="Calibri"/>
                <a:ea typeface="Calibri"/>
              </a:rPr>
              <a:t>STEP </a:t>
            </a:r>
            <a:r>
              <a:rPr lang="en-US" sz="900" b="1">
                <a:solidFill>
                  <a:srgbClr val="0070C0"/>
                </a:solidFill>
                <a:latin typeface="Calibri"/>
                <a:ea typeface="Calibri"/>
              </a:rPr>
              <a:t>4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972175" y="2038350"/>
            <a:ext cx="571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1467D"/>
                </a:solidFill>
                <a:latin typeface="Calibri"/>
                <a:ea typeface="Calibri"/>
              </a:rPr>
              <a:t>VOICE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857875" y="2295525"/>
            <a:ext cx="8001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F5E5A"/>
                </a:solidFill>
                <a:latin typeface="Calibri"/>
                <a:ea typeface="Calibri"/>
              </a:rPr>
              <a:t>TTS on device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457200" y="2962275"/>
            <a:ext cx="6591300" cy="1447800"/>
          </a:xfrm>
          <a:prstGeom prst="roundRect">
            <a:avLst>
              <a:gd name="adj" fmla="val 3947"/>
            </a:avLst>
          </a:prstGeom>
          <a:solidFill>
            <a:srgbClr val="F4F8FC"/>
          </a:solidFill>
          <a:ln w="12700">
            <a:solidFill>
              <a:srgbClr val="B4B2A9"/>
            </a:solidFill>
            <a:prstDash val="solid"/>
          </a:ln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47700" y="3133725"/>
            <a:ext cx="621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1467D"/>
                </a:solidFill>
                <a:latin typeface="Calibri"/>
                <a:ea typeface="Calibri"/>
              </a:rPr>
              <a:t>Same sentence, two ways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47700" y="34861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5E5A"/>
                </a:solidFill>
                <a:latin typeface="Calibri"/>
                <a:ea typeface="Calibri"/>
              </a:rPr>
              <a:t>Raw PCM audio, 3 s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2571750" y="3457575"/>
            <a:ext cx="3505200" cy="209550"/>
          </a:xfrm>
          <a:prstGeom prst="roundRect">
            <a:avLst>
              <a:gd name="adj" fmla="val 13636"/>
            </a:avLst>
          </a:prstGeom>
          <a:solidFill>
            <a:srgbClr val="B4B2A9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191250" y="3476625"/>
            <a:ext cx="6667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 b="1">
                <a:solidFill>
                  <a:srgbClr val="5F5E5A"/>
                </a:solidFill>
                <a:latin typeface="Calibri"/>
                <a:ea typeface="Calibri"/>
              </a:rPr>
              <a:t>≈ 93 KB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47700" y="37909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5E5A"/>
                </a:solidFill>
                <a:latin typeface="Calibri"/>
                <a:ea typeface="Calibri"/>
              </a:rPr>
              <a:t>iTantra text payload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2571750" y="3762375"/>
            <a:ext cx="38100" cy="209550"/>
          </a:xfrm>
          <a:prstGeom prst="roundRect">
            <a:avLst>
              <a:gd name="adj" fmla="val 50000"/>
            </a:avLst>
          </a:prstGeom>
          <a:solidFill>
            <a:srgbClr val="E46C0A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191250" y="3781425"/>
            <a:ext cx="6667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 b="1">
                <a:solidFill>
                  <a:srgbClr val="E46C0A"/>
                </a:solidFill>
                <a:latin typeface="Calibri"/>
                <a:ea typeface="Calibri"/>
              </a:rPr>
              <a:t>49–111 B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47700" y="4086225"/>
            <a:ext cx="621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5E5A"/>
                </a:solidFill>
                <a:latin typeface="Calibri"/>
                <a:ea typeface="Calibri"/>
              </a:rPr>
              <a:t>Measured payload from 4 test utterances. Roughly 1,000× smaller than the equivalent audio.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372350" y="1181100"/>
            <a:ext cx="4400550" cy="1038225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7372350" y="1181100"/>
            <a:ext cx="4400550" cy="1038225"/>
          </a:xfrm>
          <a:custGeom>
            <a:pathLst>
              <a:path w="462" h="109">
                <a:moveTo>
                  <a:pt x="4" y="109"/>
                </a:moveTo>
                <a:cubicBezTo>
                  <a:pt x="2" y="109"/>
                  <a:pt x="0" y="107"/>
                  <a:pt x="0" y="10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9"/>
                </a:lnTo>
                <a:close/>
              </a:path>
            </a:pathLst>
          </a:custGeom>
          <a:solidFill>
            <a:srgbClr val="01467D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505700" y="1371600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1467D"/>
                </a:solidFill>
                <a:latin typeface="Calibri"/>
                <a:ea typeface="Calibri"/>
              </a:rPr>
              <a:t>Proposed solution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505700" y="1581150"/>
            <a:ext cx="40957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</a:rPr>
              <a:t>An offline Android app: speech in, text out, a compact packet over Bluetooth or Wi-Fi Direct, speech back out on the receiving phone.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7372350" y="2333625"/>
            <a:ext cx="4400550" cy="125730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7372350" y="2333625"/>
            <a:ext cx="4400550" cy="1257300"/>
          </a:xfrm>
          <a:custGeom>
            <a:pathLst>
              <a:path w="462" h="132">
                <a:moveTo>
                  <a:pt x="4" y="132"/>
                </a:moveTo>
                <a:cubicBezTo>
                  <a:pt x="2" y="132"/>
                  <a:pt x="0" y="130"/>
                  <a:pt x="0" y="12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2"/>
                </a:lnTo>
                <a:close/>
              </a:path>
            </a:pathLst>
          </a:custGeom>
          <a:solidFill>
            <a:srgbClr val="01467D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505700" y="2524125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1467D"/>
                </a:solidFill>
                <a:latin typeface="Calibri"/>
                <a:ea typeface="Calibri"/>
              </a:rPr>
              <a:t>Detailed explanation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505700" y="2733675"/>
            <a:ext cx="40957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</a:rPr>
              <a:t>Push-to-talk works like a walkie-talkie. When idle, both phones run only a voice-activity detector. The speaker's phone carries the ASR cost; the listener's phone carries the TTS cost.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7372350" y="3705225"/>
            <a:ext cx="4400550" cy="125730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7372350" y="3705225"/>
            <a:ext cx="4400550" cy="1257300"/>
          </a:xfrm>
          <a:custGeom>
            <a:pathLst>
              <a:path w="462" h="132">
                <a:moveTo>
                  <a:pt x="4" y="132"/>
                </a:moveTo>
                <a:cubicBezTo>
                  <a:pt x="2" y="132"/>
                  <a:pt x="0" y="130"/>
                  <a:pt x="0" y="12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2"/>
                </a:lnTo>
                <a:close/>
              </a:path>
            </a:pathLst>
          </a:custGeom>
          <a:solidFill>
            <a:srgbClr val="01467D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505700" y="3895725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1467D"/>
                </a:solidFill>
                <a:latin typeface="Calibri"/>
                <a:ea typeface="Calibri"/>
              </a:rPr>
              <a:t>How it addresses the problem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505700" y="4105275"/>
            <a:ext cx="40957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</a:rPr>
              <a:t>Audio is too large for low-bitrate links. One spoken sentence becomes 49–111 bytes of UTF-8 text, so voice fits where it could not before.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7372350" y="5076825"/>
            <a:ext cx="4400550" cy="1038225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7372350" y="5076825"/>
            <a:ext cx="4400550" cy="1038225"/>
          </a:xfrm>
          <a:custGeom>
            <a:pathLst>
              <a:path w="462" h="109">
                <a:moveTo>
                  <a:pt x="4" y="109"/>
                </a:moveTo>
                <a:cubicBezTo>
                  <a:pt x="2" y="109"/>
                  <a:pt x="0" y="107"/>
                  <a:pt x="0" y="10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9"/>
                </a:lnTo>
                <a:close/>
              </a:path>
            </a:pathLst>
          </a:custGeom>
          <a:solidFill>
            <a:srgbClr val="01467D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505700" y="5267325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1467D"/>
                </a:solidFill>
                <a:latin typeface="Calibri"/>
                <a:ea typeface="Calibri"/>
              </a:rPr>
              <a:t>Innovation and uniqueness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505700" y="5476875"/>
            <a:ext cx="40957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</a:rPr>
              <a:t>An asymmetric pipeline — one heavy model per phone. Only 0.6 MB of VAD runs while listening, so idle CPU stays near zero by design.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0" y="6324600"/>
            <a:ext cx="12192000" cy="53340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</a:rPr>
              <a:t>B.J.P (Bug Janta Party)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172075" y="6515100"/>
            <a:ext cx="1847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Calibri"/>
                <a:ea typeface="Calibri"/>
              </a:rPr>
              <a:t>@SIH Idea submission- Template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487150" y="65151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alibri"/>
                <a:ea typeface="Calibri"/>
              </a:rPr>
              <a:t>2 / 6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8" name="" descr="&lt;Slide style={{ width: 1280, height: 720, padding: '34px 48px 78px 48px', background: '#FFFFFF', fontFamily: 'Calibri', display: 'flex', flexDirection: 'column', position: 'relative' }}&gt;&#10;&#10;    &lt;Box style={{ position: 'absolute', left: 0, bottom: 0, width: 1280, height: 56, background: '#0070C0', flexDirection: 'row', alignItems: 'center', padding: '0 48px' }}&gt;&#10;        &lt;Box style={{ width: 210 }}&gt;&#10;            &lt;Text style={{ fontSize: 14, fontWeight: 'bold', color: '#FFFFFF' }}&gt;B.J.P (Bug Janta Party)&lt;/Text&gt;&#10;        &lt;/Box&gt;&#10;        &lt;Box style={{ flex: 1, alignItems: 'center' }}&gt;&#10;            &lt;Text style={{ fontSize: 13, color: '#FFFFFF' }}&gt;@SIH Idea submission- Template&lt;/Text&gt;&#10;        &lt;/Box&gt;&#10;        &lt;Box style={{ width: 210, alignItems: 'flex-end' }}&gt;&#10;            &lt;Text style={{ fontSize: 13, fontWeight: 'bold', color: '#FFFFFF' }}&gt;3 / 6&lt;/Text&gt;&#10;        &lt;/Box&gt;&#10;    &lt;/Box&gt;&#10;&#10;    &lt;Box style={{ flexDirection: 'row', alignItems: 'center', height: 74 }}&gt;&#10;        &lt;Box style={{ width: 150, flexDirection: 'row', alignItems: 'center', justifyContent: 'center', height: 56, borderRadius: 28, border: '1.5px solid #7030A0' }}&gt;&#10;            &lt;Text style={{ fontSize: 13, fontWeight: 'bold', color: '#7030A0', textAlign: 'center', lineHeight: 1.2 }}&gt;B.J.P{'\n'}Bug Janta{'\n'}Party&lt;/Text&gt;&#10;        &lt;/Box&gt;&#10;        &lt;Box style={{ flex: 1, alignItems: 'center' }}&gt;&#10;            &lt;Text style={{ fontSize: 44, fontWeight: 'bold', fontFamily: 'Times New Roman', color: '#1A1A1A', textAlign: 'center' }}&gt;&#10;                TECHNICAL APPROACH&#10;            &lt;/Text&gt;&#10;            &lt;Text style={{ fontSize: 18, color: '#5F5E5A', marginTop: 4 }}&gt;Local intelligence, text-only transport&lt;/Text&gt;&#10;        &lt;/Box&gt;&#10;        &lt;Box style={{ width: 150, alignItems: 'flex-end' }}&gt;&#10;            &lt;Image src='assets/sih_logo.png' style={{ width: 140, height: 66 }} /&gt;&#10;        &lt;/Box&gt;&#10;    &lt;/Box&gt;&#10;&#10;    &lt;Box style={{ flexDirection: 'row', gap: 26, flex: 1, marginTop: 16 }}&gt;&#10;&#10;        &lt;Box style={{ flex: 0.47, background: '#01467D', borderRadius: 8, padding: 20, flexDirection: 'column' }}&gt;&#10;            &lt;Text style={{ fontSize: 16, fontWeight: 'bold', color: '#FFFFFF', lineHeight: 1.3 }}&gt;&#10;                Technologies to be used&#10;            &lt;/Text&gt;&#10;            &lt;Text style={{ fontSize: 12, color: '#9FC0DC', marginTop: 3 }}&gt;programming languages, frameworks, hardware&lt;/Text&gt;&#10;&#10;            &lt;Box style={{ height: 1, background: '#2E6FA8', marginTop: 12 }} /&gt;&#10;&#10;            &lt;Box style={{ flexDirection: 'column', gap: 9, marginTop: 12 }}&gt;&#10;                {[&#10;                    { k: 'Android app', v: 'Kotlin · minSdk 21 (Android 5.0) · targetSdk 33 · native AudioRecord / AudioTrack / BluetoothSocket / WifiP2pManager' },&#10;                    { k: 'ASR', v: 'Meta Omnilingual 300M CTC INT8 · 348.4 MB · Apache 2.0' },&#10;                    { k: 'TTS', v: 'Piper VITS · hi_IN pratham 60.6 MB + en_US lessac 60.3 MB · MIT' },&#10;                    { k: 'VAD', v: 'Silero · 0.6 MB · MIT · RTF 0.004 (≈240× faster than real time)' },&#10;                    { k: 'Runtime', v: 'sherpa-onnx v1.13.8 · Apache 2.0 · arm64-v8a' },&#10;                    { k: 'Transport', v: 'Bluetooth Classic RFCOMM (primary) · Wi-Fi Direct (fallback)' },&#10;                ].map((r, i) =&gt; (&#10;                    &lt;Box key={i}&gt;&#10;                        &lt;Text style={{ fontSize: 14, fontWeight: 'bold', color: '#FFFFFF' }}&gt;{r.k}&lt;/Text&gt;&#10;                        &lt;Text style={{ fontSize: 12.5, color: '#CFE0F0', lineHeight: 1.35 }}&gt;{r.v}&lt;/Text&gt;&#10;                    &lt;/Box&gt;&#10;                ))}&#10;            &lt;/Box&gt;&#10;        &lt;/Box&gt;&#10;&#10;        &lt;Box style={{ flex: 1, flexDirection: 'column' }}&gt;&#10;            &lt;Text style={{ fontSize: 16, fontWeight: 'bold', color: '#01467D' }}&gt;&#10;                Methodology and process for implementation&#10;            &lt;/Text&gt;&#10;&#10;            &lt;Box style={{ marginTop: 10, padding: '10px 14px', background: '#F4F8FC', border: '1px solid #B4B2A9', borderRadius: 6 }}&gt;&#10;                &lt;Text style={{ fontSize: 14, fontWeight: 'bold', color: '#01467D' }}&gt;PHONE A — SPEAKER &amp;nbsp;&lt;span style={{ fontWeight: 'normal', color: '#5F5E5A' }}&gt;loads VAD + ASR&lt;/span&gt;&lt;/Text&gt;&#10;                &lt;Box style={{ flexDirection: 'row', alignItems: 'center', gap: 6, marginTop: 8 }}&gt;&#10;                    {[&#10;                        { t: 'Mic', d: '16 kHz mono' },&#10;                        { t: 'Silero VAD', d: 'finds the pause' },&#10;                        { t: 'Omnilingual ASR', d: 'speech → text' },&#10;                        { t: 'Language filter', d: 'enforces script' },&#10;                    ].map((s, i) =&gt; (&#10;                        &lt;Box key={i} style={{ flexDirection: 'row', alignItems: 'center', flex: 1, gap: 6 }}&gt;&#10;                            &lt;Box style={{ flex: 1, height: 74, border: '1px solid #01467D', borderRadius: 5, background: '#FFFFFF', alignItems: 'center', justifyContent: 'center', padding: 6 }}&gt;&#10;                                &lt;Text style={{ fontSize: 14, fontWeight: 'bold', color: '#01467D', textAlign: 'center' }}&gt;{s.t}&lt;/Text&gt;&#10;                                &lt;Text style={{ fontSize: 12, color: '#5F5E5A', marginTop: 3, textAlign: 'center' }}&gt;{s.d}&lt;/Text&gt;&#10;                            &lt;/Box&gt;&#10;                            {i &lt; 3 ? (&#10;                                &lt;svg width={16} height={16} viewBox='0 0 24 24'&gt;&#10;                                    &lt;path d='M5 12h14M13 6l6 6-6 6' fill='none' stroke='#0070C0' strokeWidth='2.5' /&gt;&#10;                                &lt;/svg&gt;&#10;                            ) : null}&#10;                        &lt;/Box&gt;&#10;                    ))}&#10;                &lt;/Box&gt;&#10;            &lt;/Box&gt;&#10;&#10;            &lt;Box style={{ alignItems: 'center', marginTop: 6 }}&gt;&#10;                &lt;svg width={22} height={22} viewBox='0 0 24 24'&gt;&#10;                    &lt;path d='M12 4v16M6 14l6 6 6-6' fill='none' stroke='#0070C0' strokeWidth='2.5' /&gt;&#10;                &lt;/svg&gt;&#10;            &lt;/Box&gt;&#10;&#10;            &lt;Box style={{ padding: '10px 14px', border: '1px dashed #0070C0', borderRadius: 6, background: '#FFFFFF', flexDirection: 'row', alignItems: 'center', gap: 14 }}&gt;&#10;                &lt;Box style={{ padding: '6px 12px', borderRadius: 4, background: '#0070C0' }}&gt;&#10;                    &lt;Text style={{ fontSize: 13, fontWeight: 'bold', color: '#FFFFFF' }}&gt;LINK&lt;/Text&gt;&#10;                &lt;/Box&gt;&#10;                &lt;Text style={{ fontSize: 13.5, color: '#1A1A1A', flex: 1 }}&gt;&#10;                    Compact UTF-8 text only &amp;nbsp;·&amp;nbsp; JSON envelope with 4-byte length prefix &amp;nbsp;·&amp;nbsp; &lt;span style={{ fontWeight: 'bold', color: '#E46C0A' }}&gt;49–111 bytes&lt;/span&gt; of text, 128–275 bytes framed&#10;                &lt;/Text&gt;&#10;            &lt;/Box&gt;&#10;&#10;            &lt;Box style={{ alignItems: 'center', marginTop: 6 }}&gt;&#10;                &lt;svg width={22} height={22} viewBox='0 0 24 24'&gt;&#10;                    &lt;path d='M12 4v16M6 14l6 6 6-6' fill='none' stroke='#0070C0' strokeWidth='2.5' /&gt;&#10;                &lt;/svg&gt;&#10;            &lt;/Box&gt;&#10;&#10;            &lt;Box style={{ padding: '10px 14px', background: '#F4F8FC', border: '1px solid #B4B2A9', borderRadius: 6 }}&gt;&#10;                &lt;Text style={{ fontSize: 14, fontWeight: 'bold', color: '#01467D' }}&gt;PHONE B — LISTENER &amp;nbsp;&lt;span style={{ fontWeight: 'normal', color: '#5F5E5A' }}&gt;loads VAD + TTS&lt;/span&gt;&lt;/Text&gt;&#10;                &lt;Box style={{ flexDirection: 'row', alignItems: 'center', gap: 6, marginTop: 8 }}&gt;&#10;                    {[&#10;                        { t: 'Message', d: 'dedupe + expiry' },&#10;                        { t: 'Piper TTS', d: 'text → speech' },&#10;                        { t: 'Audio out', d: '22 050 Hz, ALERT loop' },&#10;                    ].map((s, i) =&gt; (&#10;                        &lt;Box key={i} style={{ flexDirection: 'row', alignItems: 'center', flex: 1, gap: 6 }}&gt;&#10;                            &lt;Box style={{ flex: 1, height: 74, border: '1px solid #01467D', borderRadius: 5, background: '#FFFFFF', alignItems: 'center', justifyContent: 'center', padding: 6 }}&gt;&#10;                                &lt;Text style={{ fontSize: 14, fontWeight: 'bold', color: '#01467D', textAlign: 'center' }}&gt;{s.t}&lt;/Text&gt;&#10;                                &lt;Text style={{ fontSize: 12, color: '#5F5E5A', marginTop: 3, textAlign: 'center' }}&gt;{s.d}&lt;/Text&gt;&#10;                            &lt;/Box&gt;&#10;                            {i &lt; 2 ? (&#10;                                &lt;svg width={16} height={16} viewBox='0 0 24 24'&gt;&#10;                                    &lt;path d='M5 12h14M13 6l6 6-6 6' fill='none' stroke='#0070C0' strokeWidth='2.5' /&gt;&#10;                                &lt;/svg&gt;&#10;                            ) : null}&#10;                        &lt;/Box&gt;&#10;                    ))}&#10;                    &lt;Box style={{ width: 60 }} /&gt;&#10;                &lt;/Box&gt;&#10;            &lt;/Box&gt;&#10;&#10;            &lt;Box style={{ flex: 1 }} /&gt;&#10;&#10;            &lt;Box style={{ padding: '10px 14px', background: '#FFF6EC', borderLeft: '4px solid #E46C0A', borderRadius: 4 }}&gt;&#10;                &lt;Text style={{ fontSize: 13.5, color: '#1A1A1A', lineHeight: 1.4 }}&gt;&#10;                    &lt;span style={{ fontWeight: 'bold', color: '#01467D' }}&gt;One heavy model per phone.&lt;/span&gt; The speaker loads VAD + ASR; the listener loads VAD + TTS. A naive design loads both models on both phones and doubles the memory for no benefit. On Android the speaker measures &lt;span style={{ fontWeight: 'bold' }}&gt;428 MB PSS&lt;/span&gt;; the listener needs roughly 100 MB.&#10;                &lt;/Text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457200" y="409575"/>
            <a:ext cx="1428750" cy="533400"/>
          </a:xfrm>
          <a:prstGeom prst="roundRect">
            <a:avLst>
              <a:gd name="adj" fmla="val 50000"/>
            </a:avLst>
          </a:prstGeom>
          <a:ln w="1905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76300" y="409575"/>
            <a:ext cx="600075" cy="5429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B.J.P</a:t>
            </a:r>
            <a:endParaRPr/>
          </a:p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Bug Janta</a:t>
            </a:r>
            <a:endParaRPr/>
          </a:p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Party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590925" y="304800"/>
            <a:ext cx="5019675" cy="504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300" b="1">
                <a:solidFill>
                  <a:srgbClr val="1A1A1A"/>
                </a:solidFill>
                <a:latin typeface="Times New Roman"/>
                <a:ea typeface="Times New Roman"/>
              </a:rPr>
              <a:t>TECHNICAL APPROACH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705350" y="847725"/>
            <a:ext cx="2790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5F5E5A"/>
                </a:solidFill>
                <a:latin typeface="Calibri"/>
                <a:ea typeface="Calibri"/>
              </a:rPr>
              <a:t>Local intelligence, text-only transport</a:t>
            </a:r>
            <a:endParaRPr/>
          </a:p>
        </p:txBody>
      </p:sp>
      <p:pic>
        <p:nvPicPr>
          <p:cNvPr id="104" name=""/>
          <p:cNvPicPr>
            <a:picLocks noChangeAspect="1"/>
          </p:cNvPicPr>
          <p:nvPr/>
        </p:nvPicPr>
        <p:blipFill>
          <a:blip r:embed="rId1"/>
          <a:srcRect l="0" t="84" r="0" b="84"/>
          <a:stretch>
            <a:fillRect/>
          </a:stretch>
        </p:blipFill>
        <p:spPr>
          <a:xfrm rot="0" flipH="0" flipV="0">
            <a:off x="10401300" y="361950"/>
            <a:ext cx="1333500" cy="628650"/>
          </a:xfrm>
          <a:prstGeom prst="rect">
            <a:avLst/>
          </a:prstGeom>
          <a:ln/>
        </p:spPr>
      </p:pic>
      <p:sp>
        <p:nvSpPr>
          <p:cNvPr id="105" name=""/>
          <p:cNvSpPr/>
          <p:nvPr/>
        </p:nvSpPr>
        <p:spPr>
          <a:xfrm rot="0" flipH="0" flipV="0">
            <a:off x="457200" y="1181100"/>
            <a:ext cx="3524250" cy="4933950"/>
          </a:xfrm>
          <a:prstGeom prst="roundRect">
            <a:avLst>
              <a:gd name="adj" fmla="val 2162"/>
            </a:avLst>
          </a:prstGeom>
          <a:solidFill>
            <a:srgbClr val="01467D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47700" y="1371600"/>
            <a:ext cx="31432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Technologies to be used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47700" y="1638300"/>
            <a:ext cx="3143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FC0DC"/>
                </a:solidFill>
                <a:latin typeface="Calibri"/>
                <a:ea typeface="Calibri"/>
              </a:rPr>
              <a:t>programming languages, frameworks, hardware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47700" y="1895475"/>
            <a:ext cx="3143250" cy="9525"/>
          </a:xfrm>
          <a:prstGeom prst="rect">
            <a:avLst/>
          </a:prstGeom>
          <a:solidFill>
            <a:srgbClr val="2E6FA8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47700" y="201930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</a:rPr>
              <a:t>Android app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47700" y="2181225"/>
            <a:ext cx="31432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38">
                <a:solidFill>
                  <a:srgbClr val="CFE0F0"/>
                </a:solidFill>
                <a:latin typeface="Calibri"/>
                <a:ea typeface="Calibri"/>
              </a:rPr>
              <a:t>Kotlin · minSdk 21 (Android 5.0) · targetSdk 33 · native AudioRecord / AudioTrack / BluetoothSocket / WifiP2pManager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47700" y="284797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</a:rPr>
              <a:t>ASR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47700" y="3009900"/>
            <a:ext cx="31432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38">
                <a:solidFill>
                  <a:srgbClr val="CFE0F0"/>
                </a:solidFill>
                <a:latin typeface="Calibri"/>
                <a:ea typeface="Calibri"/>
              </a:rPr>
              <a:t>Meta Omnilingual 300M CTC INT8 · 348.4 MB · Apache 2.0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47700" y="329565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</a:rPr>
              <a:t>TTS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47700" y="3457575"/>
            <a:ext cx="31432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38">
                <a:solidFill>
                  <a:srgbClr val="CFE0F0"/>
                </a:solidFill>
                <a:latin typeface="Calibri"/>
                <a:ea typeface="Calibri"/>
              </a:rPr>
              <a:t>Piper VITS · hi_IN pratham 60.6 MB + en_US lessac 60.3 MB · MIT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47700" y="39338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</a:rPr>
              <a:t>VAD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47700" y="4095750"/>
            <a:ext cx="31432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38">
                <a:solidFill>
                  <a:srgbClr val="CFE0F0"/>
                </a:solidFill>
                <a:latin typeface="Calibri"/>
                <a:ea typeface="Calibri"/>
              </a:rPr>
              <a:t>Silero · 0.6 MB · MIT · RTF 0.004 (≈240× faster than real time)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47700" y="457200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</a:rPr>
              <a:t>Runtime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47700" y="4733925"/>
            <a:ext cx="31432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38">
                <a:solidFill>
                  <a:srgbClr val="CFE0F0"/>
                </a:solidFill>
                <a:latin typeface="Calibri"/>
                <a:ea typeface="Calibri"/>
              </a:rPr>
              <a:t>sherpa-onnx v1.13.8 · Apache 2.0 · arm64-v8a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47700" y="501967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</a:rPr>
              <a:t>Transport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47700" y="5181600"/>
            <a:ext cx="31432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38">
                <a:solidFill>
                  <a:srgbClr val="CFE0F0"/>
                </a:solidFill>
                <a:latin typeface="Calibri"/>
                <a:ea typeface="Calibri"/>
              </a:rPr>
              <a:t>Bluetooth Classic RFCOMM (primary) · Wi-Fi Direct (fallback)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229100" y="1181100"/>
            <a:ext cx="750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1467D"/>
                </a:solidFill>
                <a:latin typeface="Calibri"/>
                <a:ea typeface="Calibri"/>
              </a:rPr>
              <a:t>Methodology and process for implementation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4229100" y="1466850"/>
            <a:ext cx="7505700" cy="1133475"/>
          </a:xfrm>
          <a:prstGeom prst="roundRect">
            <a:avLst>
              <a:gd name="adj" fmla="val 5042"/>
            </a:avLst>
          </a:prstGeom>
          <a:solidFill>
            <a:srgbClr val="F4F8FC"/>
          </a:solidFill>
          <a:ln w="12700">
            <a:solidFill>
              <a:srgbClr val="B4B2A9"/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362450" y="1562100"/>
            <a:ext cx="723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1467D"/>
                </a:solidFill>
                <a:latin typeface="Calibri"/>
                <a:ea typeface="Calibri"/>
              </a:rPr>
              <a:t>PHONE A — SPEAKER  </a:t>
            </a:r>
            <a:r>
              <a:rPr lang="en-US" sz="1050">
                <a:solidFill>
                  <a:srgbClr val="5F5E5A"/>
                </a:solidFill>
                <a:latin typeface="Calibri"/>
                <a:ea typeface="Calibri"/>
              </a:rPr>
              <a:t>loads VAD + ASR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4362450" y="1800225"/>
            <a:ext cx="15621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01467D"/>
            </a:solidFill>
            <a:prstDash val="solid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029200" y="1990725"/>
            <a:ext cx="2286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01467D"/>
                </a:solidFill>
                <a:latin typeface="Calibri"/>
                <a:ea typeface="Calibri"/>
              </a:rPr>
              <a:t>Mic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810125" y="2181225"/>
            <a:ext cx="6762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16 kHz mono</a:t>
            </a:r>
            <a:endParaRPr/>
          </a:p>
        </p:txBody>
      </p:sp>
      <p:pic>
        <p:nvPicPr>
          <p:cNvPr id="1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81700" y="2076450"/>
            <a:ext cx="152400" cy="152400"/>
          </a:xfrm>
          <a:prstGeom prst="rect">
            <a:avLst/>
          </a:prstGeom>
          <a:ln/>
        </p:spPr>
      </p:pic>
      <p:sp>
        <p:nvSpPr>
          <p:cNvPr id="128" name=""/>
          <p:cNvSpPr/>
          <p:nvPr/>
        </p:nvSpPr>
        <p:spPr>
          <a:xfrm rot="0" flipH="0" flipV="0">
            <a:off x="6191250" y="1800225"/>
            <a:ext cx="155257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01467D"/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629400" y="1990725"/>
            <a:ext cx="6858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01467D"/>
                </a:solidFill>
                <a:latin typeface="Calibri"/>
                <a:ea typeface="Calibri"/>
              </a:rPr>
              <a:t>Silero VAD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581775" y="2181225"/>
            <a:ext cx="7810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finds the pause</a:t>
            </a:r>
            <a:endParaRPr/>
          </a:p>
        </p:txBody>
      </p:sp>
      <p:pic>
        <p:nvPicPr>
          <p:cNvPr id="1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800975" y="2076450"/>
            <a:ext cx="152400" cy="152400"/>
          </a:xfrm>
          <a:prstGeom prst="rect">
            <a:avLst/>
          </a:prstGeom>
          <a:ln/>
        </p:spPr>
      </p:pic>
      <p:sp>
        <p:nvSpPr>
          <p:cNvPr id="132" name=""/>
          <p:cNvSpPr/>
          <p:nvPr/>
        </p:nvSpPr>
        <p:spPr>
          <a:xfrm rot="0" flipH="0" flipV="0">
            <a:off x="8010525" y="1800225"/>
            <a:ext cx="15621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01467D"/>
            </a:solidFill>
            <a:prstDash val="solid"/>
          </a:ln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248650" y="1990725"/>
            <a:ext cx="109537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01467D"/>
                </a:solidFill>
                <a:latin typeface="Calibri"/>
                <a:ea typeface="Calibri"/>
              </a:rPr>
              <a:t>Omnilingual ASR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429625" y="2181225"/>
            <a:ext cx="7334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speech → text</a:t>
            </a:r>
            <a:endParaRPr/>
          </a:p>
        </p:txBody>
      </p:sp>
      <p:pic>
        <p:nvPicPr>
          <p:cNvPr id="1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629775" y="2076450"/>
            <a:ext cx="152400" cy="152400"/>
          </a:xfrm>
          <a:prstGeom prst="rect">
            <a:avLst/>
          </a:prstGeom>
          <a:ln/>
        </p:spPr>
      </p:pic>
      <p:sp>
        <p:nvSpPr>
          <p:cNvPr id="136" name=""/>
          <p:cNvSpPr/>
          <p:nvPr/>
        </p:nvSpPr>
        <p:spPr>
          <a:xfrm rot="0" flipH="0" flipV="0">
            <a:off x="9839325" y="1800225"/>
            <a:ext cx="17621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01467D"/>
            </a:solidFill>
            <a:prstDash val="solid"/>
          </a:ln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0239375" y="1990725"/>
            <a:ext cx="962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01467D"/>
                </a:solidFill>
                <a:latin typeface="Calibri"/>
                <a:ea typeface="Calibri"/>
              </a:rPr>
              <a:t>Language filter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0344150" y="2181225"/>
            <a:ext cx="7524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enforces script</a:t>
            </a:r>
            <a:endParaRPr/>
          </a:p>
        </p:txBody>
      </p:sp>
      <p:pic>
        <p:nvPicPr>
          <p:cNvPr id="1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877175" y="2657475"/>
            <a:ext cx="209550" cy="209550"/>
          </a:xfrm>
          <a:prstGeom prst="rect">
            <a:avLst/>
          </a:prstGeom>
          <a:ln/>
        </p:spPr>
      </p:pic>
      <p:sp>
        <p:nvSpPr>
          <p:cNvPr id="140" name=""/>
          <p:cNvSpPr/>
          <p:nvPr/>
        </p:nvSpPr>
        <p:spPr>
          <a:xfrm rot="0" flipH="0" flipV="0">
            <a:off x="4229100" y="2867025"/>
            <a:ext cx="75057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070C0"/>
            </a:solidFill>
            <a:prstDash val="dash"/>
          </a:ln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4362450" y="2962275"/>
            <a:ext cx="523875" cy="266700"/>
          </a:xfrm>
          <a:prstGeom prst="roundRect">
            <a:avLst>
              <a:gd name="adj" fmla="val 14286"/>
            </a:avLst>
          </a:prstGeom>
          <a:solidFill>
            <a:srgbClr val="0070C0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476750" y="3019425"/>
            <a:ext cx="295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alibri"/>
                <a:ea typeface="Calibri"/>
              </a:rPr>
              <a:t>LINK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019675" y="3019425"/>
            <a:ext cx="6581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1A1A1A"/>
                </a:solidFill>
                <a:latin typeface="Calibri"/>
                <a:ea typeface="Calibri"/>
              </a:rPr>
              <a:t>Compact UTF-8 text only  ·  JSON envelope with 4-byte length prefix  ·  </a:t>
            </a:r>
            <a:r>
              <a:rPr lang="en-US" sz="1013" b="1">
                <a:solidFill>
                  <a:srgbClr val="E46C0A"/>
                </a:solidFill>
                <a:latin typeface="Calibri"/>
                <a:ea typeface="Calibri"/>
              </a:rPr>
              <a:t>49–111 bytes</a:t>
            </a:r>
            <a:r>
              <a:rPr lang="en-US" sz="1013">
                <a:solidFill>
                  <a:srgbClr val="1A1A1A"/>
                </a:solidFill>
                <a:latin typeface="Calibri"/>
                <a:ea typeface="Calibri"/>
              </a:rPr>
              <a:t> of text, 128–275 bytes framed</a:t>
            </a:r>
            <a:endParaRPr/>
          </a:p>
        </p:txBody>
      </p:sp>
      <p:pic>
        <p:nvPicPr>
          <p:cNvPr id="1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877175" y="3381375"/>
            <a:ext cx="209550" cy="209550"/>
          </a:xfrm>
          <a:prstGeom prst="rect">
            <a:avLst/>
          </a:prstGeom>
          <a:ln/>
        </p:spPr>
      </p:pic>
      <p:sp>
        <p:nvSpPr>
          <p:cNvPr id="145" name=""/>
          <p:cNvSpPr/>
          <p:nvPr/>
        </p:nvSpPr>
        <p:spPr>
          <a:xfrm rot="0" flipH="0" flipV="0">
            <a:off x="4229100" y="3590925"/>
            <a:ext cx="7505700" cy="1133475"/>
          </a:xfrm>
          <a:prstGeom prst="roundRect">
            <a:avLst>
              <a:gd name="adj" fmla="val 5042"/>
            </a:avLst>
          </a:prstGeom>
          <a:solidFill>
            <a:srgbClr val="F4F8FC"/>
          </a:solidFill>
          <a:ln w="12700">
            <a:solidFill>
              <a:srgbClr val="B4B2A9"/>
            </a:solidFill>
            <a:prstDash val="solid"/>
          </a:ln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362450" y="3686175"/>
            <a:ext cx="723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1467D"/>
                </a:solidFill>
                <a:latin typeface="Calibri"/>
                <a:ea typeface="Calibri"/>
              </a:rPr>
              <a:t>PHONE B — LISTENER  </a:t>
            </a:r>
            <a:r>
              <a:rPr lang="en-US" sz="1050">
                <a:solidFill>
                  <a:srgbClr val="5F5E5A"/>
                </a:solidFill>
                <a:latin typeface="Calibri"/>
                <a:ea typeface="Calibri"/>
              </a:rPr>
              <a:t>loads VAD + TTS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4362450" y="3924300"/>
            <a:ext cx="19526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01467D"/>
            </a:solidFill>
            <a:prstDash val="solid"/>
          </a:ln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057775" y="4114800"/>
            <a:ext cx="571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01467D"/>
                </a:solidFill>
                <a:latin typeface="Calibri"/>
                <a:ea typeface="Calibri"/>
              </a:rPr>
              <a:t>Message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933950" y="4305300"/>
            <a:ext cx="8191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dedupe + expiry</a:t>
            </a:r>
            <a:endParaRPr/>
          </a:p>
        </p:txBody>
      </p:sp>
      <p:pic>
        <p:nvPicPr>
          <p:cNvPr id="1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372225" y="4200525"/>
            <a:ext cx="152400" cy="152400"/>
          </a:xfrm>
          <a:prstGeom prst="rect">
            <a:avLst/>
          </a:prstGeom>
          <a:ln/>
        </p:spPr>
      </p:pic>
      <p:sp>
        <p:nvSpPr>
          <p:cNvPr id="151" name=""/>
          <p:cNvSpPr/>
          <p:nvPr/>
        </p:nvSpPr>
        <p:spPr>
          <a:xfrm rot="0" flipH="0" flipV="0">
            <a:off x="6581775" y="3924300"/>
            <a:ext cx="196215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01467D"/>
            </a:solidFill>
            <a:prstDash val="solid"/>
          </a:ln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248525" y="4114800"/>
            <a:ext cx="6286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01467D"/>
                </a:solidFill>
                <a:latin typeface="Calibri"/>
                <a:ea typeface="Calibri"/>
              </a:rPr>
              <a:t>Piper TTS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200900" y="4305300"/>
            <a:ext cx="7334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text → speech</a:t>
            </a:r>
            <a:endParaRPr/>
          </a:p>
        </p:txBody>
      </p:sp>
      <p:pic>
        <p:nvPicPr>
          <p:cNvPr id="1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601075" y="4200525"/>
            <a:ext cx="152400" cy="152400"/>
          </a:xfrm>
          <a:prstGeom prst="rect">
            <a:avLst/>
          </a:prstGeom>
          <a:ln/>
        </p:spPr>
      </p:pic>
      <p:sp>
        <p:nvSpPr>
          <p:cNvPr id="155" name=""/>
          <p:cNvSpPr/>
          <p:nvPr/>
        </p:nvSpPr>
        <p:spPr>
          <a:xfrm rot="0" flipH="0" flipV="0">
            <a:off x="8810625" y="3924300"/>
            <a:ext cx="216217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01467D"/>
            </a:solidFill>
            <a:prstDash val="solid"/>
          </a:ln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9582150" y="4114800"/>
            <a:ext cx="6286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01467D"/>
                </a:solidFill>
                <a:latin typeface="Calibri"/>
                <a:ea typeface="Calibri"/>
              </a:rPr>
              <a:t>Audio out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296400" y="4305300"/>
            <a:ext cx="12001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22 050 Hz, ALERT loop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267200" y="5267325"/>
            <a:ext cx="7505700" cy="847725"/>
          </a:xfrm>
          <a:prstGeom prst="roundRect">
            <a:avLst>
              <a:gd name="adj" fmla="val 4494"/>
            </a:avLst>
          </a:prstGeom>
          <a:solidFill>
            <a:srgbClr val="FFF6EC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4267200" y="5267325"/>
            <a:ext cx="7505700" cy="847725"/>
          </a:xfrm>
          <a:custGeom>
            <a:pathLst>
              <a:path w="788" h="89">
                <a:moveTo>
                  <a:pt x="4" y="89"/>
                </a:moveTo>
                <a:cubicBezTo>
                  <a:pt x="2" y="89"/>
                  <a:pt x="0" y="87"/>
                  <a:pt x="0" y="8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89"/>
                </a:lnTo>
                <a:close/>
              </a:path>
            </a:pathLst>
          </a:custGeom>
          <a:solidFill>
            <a:srgbClr val="E46C0A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400550" y="5362575"/>
            <a:ext cx="72009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13" b="1">
                <a:solidFill>
                  <a:srgbClr val="01467D"/>
                </a:solidFill>
                <a:latin typeface="Calibri"/>
                <a:ea typeface="Calibri"/>
              </a:rPr>
              <a:t>One heavy model per phone.</a:t>
            </a:r>
            <a:r>
              <a:rPr lang="en-US" sz="1013">
                <a:solidFill>
                  <a:srgbClr val="1A1A1A"/>
                </a:solidFill>
                <a:latin typeface="Calibri"/>
                <a:ea typeface="Calibri"/>
              </a:rPr>
              <a:t> The speaker loads VAD + ASR; the listener loads VAD + TTS. A naive design loads both models on both phones and doubles the memory for no benefit. On Android the speaker measures </a:t>
            </a:r>
            <a:r>
              <a:rPr lang="en-US" sz="1013" b="1">
                <a:solidFill>
                  <a:srgbClr val="1A1A1A"/>
                </a:solidFill>
                <a:latin typeface="Calibri"/>
                <a:ea typeface="Calibri"/>
              </a:rPr>
              <a:t>428 MB PSS</a:t>
            </a:r>
            <a:r>
              <a:rPr lang="en-US" sz="1013">
                <a:solidFill>
                  <a:srgbClr val="1A1A1A"/>
                </a:solidFill>
                <a:latin typeface="Calibri"/>
                <a:ea typeface="Calibri"/>
              </a:rPr>
              <a:t>; the listener needs roughly 100 MB.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0" y="6324600"/>
            <a:ext cx="12192000" cy="53340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</a:rPr>
              <a:t>B.J.P (Bug Janta Party)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172075" y="6515100"/>
            <a:ext cx="1847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Calibri"/>
                <a:ea typeface="Calibri"/>
              </a:rPr>
              <a:t>@SIH Idea submission- Template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487150" y="65151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alibri"/>
                <a:ea typeface="Calibri"/>
              </a:rPr>
              <a:t>3 / 6</a:t>
            </a:r>
            <a:endParaRPr/>
          </a:p>
        </p:txBody>
      </p:sp>
    </p:spTree>
  </p:cSld>
</p:sld>
</file>

<file path=ppt/slides/slide4.xml><?xml version="1.0" encoding="utf-8"?>
<p:sld xmlns:a16="http://schemas.microsoft.com/office/drawing/2014/main"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16 asvg">
  <p:cSld>
    <p:spTree>
      <p:nvGrpSpPr>
        <p:cNvPr id="165" name="" descr="&lt;Slide style={{ width: 1280, height: 720, padding: '34px 48px 78px 48px', background: '#FFFFFF', fontFamily: 'Calibri', display: 'flex', flexDirection: 'column', position: 'relative' }}&gt;&#10;&#10;    &lt;Box style={{ position: 'absolute', left: 0, bottom: 0, width: 1280, height: 56, background: '#0070C0', flexDirection: 'row', alignItems: 'center', padding: '0 48px' }}&gt;&#10;        &lt;Box style={{ width: 210 }}&gt;&#10;            &lt;Text style={{ fontSize: 14, fontWeight: 'bold', color: '#FFFFFF' }}&gt;B.J.P (Bug Janta Party)&lt;/Text&gt;&#10;        &lt;/Box&gt;&#10;        &lt;Box style={{ flex: 1, alignItems: 'center' }}&gt;&#10;            &lt;Text style={{ fontSize: 13, color: '#FFFFFF' }}&gt;@SIH Idea submission- Template&lt;/Text&gt;&#10;        &lt;/Box&gt;&#10;        &lt;Box style={{ width: 210, alignItems: 'flex-end' }}&gt;&#10;            &lt;Text style={{ fontSize: 13, fontWeight: 'bold', color: '#FFFFFF' }}&gt;4 / 6&lt;/Text&gt;&#10;        &lt;/Box&gt;&#10;    &lt;/Box&gt;&#10;&#10;    &lt;Box style={{ flexDirection: 'row', alignItems: 'center', height: 74 }}&gt;&#10;        &lt;Box style={{ width: 150, flexDirection: 'row', alignItems: 'center', justifyContent: 'center', height: 56, borderRadius: 28, border: '1.5px solid #7030A0' }}&gt;&#10;            &lt;Text style={{ fontSize: 13, fontWeight: 'bold', color: '#7030A0', textAlign: 'center', lineHeight: 1.2 }}&gt;B.J.P{'\n'}Bug Janta{'\n'}Party&lt;/Text&gt;&#10;        &lt;/Box&gt;&#10;        &lt;Box style={{ flex: 1, alignItems: 'center' }}&gt;&#10;            &lt;Text style={{ fontSize: 44, fontWeight: 'bold', fontFamily: 'Times New Roman', color: '#1A1A1A', textAlign: 'center' }}&gt;&#10;                FEASIBILITY AND VIABILITY&#10;            &lt;/Text&gt;&#10;            &lt;Text style={{ fontSize: 18, color: '#5F5E5A', marginTop: 4 }}&gt;Analysis of the feasibility of the idea &amp;nbsp;·&amp;nbsp; measured, not projected&lt;/Text&gt;&#10;        &lt;/Box&gt;&#10;        &lt;Box style={{ width: 150, alignItems: 'flex-end' }}&gt;&#10;            &lt;Image src='assets/sih_logo.png' style={{ width: 140, height: 66 }} /&gt;&#10;        &lt;/Box&gt;&#10;    &lt;/Box&gt;&#10;&#10;    &lt;Box style={{ flexDirection: 'row', gap: 24, flex: 1, marginTop: 14 }}&gt;&#10;&#10;        &lt;Box style={{ flex: 1.42, flexDirection: 'column' }}&gt;&#10;            &lt;Box style={{ flexDirection: 'row', alignItems: 'baseline' }}&gt;&#10;                &lt;Text style={{ fontSize: 16, fontWeight: 'bold', color: '#01467D' }}&gt;Offline ASR on real human speech — Google FLEURS&lt;/Text&gt;&#10;                &lt;Box style={{ flex: 1 }} /&gt;&#10;                &lt;Text style={{ fontSize: 13, color: '#5F5E5A' }}&gt;lower is better&lt;/Text&gt;&#10;            &lt;/Box&gt;&#10;&#10;            &lt;Box style={{ marginTop: 8, flex: 1 }}&gt;&#10;                &lt;Table&#10;                    style={{ width: '100%', height: '100%' }}&#10;                    defaultTextStyle={{ fontSize: 13.5, textAlign: 'center', color: '#1A1A1A' }}&#10;                    defaultCellStyle={{ border: { left: { width: 1, color: '#D8D6CE' }, right: { width: 1, color: '#D8D6CE' }, top: { width: 1, color: '#D8D6CE' }, bottom: { width: 1, color: '#D8D6CE' } } }}&#10;                    cells={[&#10;                        [&#10;                            { text: 'Language', textStyle: { bold: true, color: '#FFFFFF', fontSize: 13.5 }, cellStyle: { background: { color: '#01467D' } } },&#10;                            { text: 'WER (norm)', textStyle: { bold: true, color: '#FFFFFF', fontSize: 13.5 }, cellStyle: { background: { color: '#01467D' } } },&#10;                            { text: 'CER (norm)', textStyle: { bold: true, color: '#FFFFFF', fontSize: 13.5 }, cellStyle: { background: { color: '#01467D' } } },&#10;                            { text: 'RTF median', textStyle: { bold: true, color: '#FFFFFF', fontSize: 13.5 }, cellStyle: { background: { color: '#01467D' } } },&#10;                        ],&#10;                        [{ text: 'Kannada', textStyle: { bold: true, textAlign: 'left' } }, '0.307', { text: '0.053', textStyle: { bold: true, color: '#0070C0' } }, '0.041'],&#10;                        [{ text: 'Malayalam', textStyle: { bold: true, textAlign: 'left' }, cellStyle: { background: { color: '#F4F8FC' } } }, { text: '0.361', cellStyle: { background: { color: '#F4F8FC' } } }, { text: '0.059', textStyle: { bold: true, color: '#0070C0' }, cellStyle: { background: { color: '#F4F8FC' } } }, { text: '0.041', cellStyle: { background: { color: '#F4F8FC' } } }],&#10;                        [{ text: 'English', textStyle: { bold: true, textAlign: 'left' } }, '0.181', { text: '0.067', textStyle: { bold: true, color: '#0070C0' } }, '0.040'],&#10;                        [{ text: 'Gujarati', textStyle: { bold: true, textAlign: 'left' }, cellStyle: { background: { color: '#F4F8FC' } } }, { text: '0.300', cellStyle: { background: { color: '#F4F8FC' } } }, { text: '0.071', textStyle: { bold: true, color: '#0070C0' }, cellStyle: { background: { color: '#F4F8FC' } } }, { text: '0.041', cellStyle: { background: { color: '#F4F8FC' } } }],&#10;                        [{ text: 'Bengali', textStyle: { bold: true, textAlign: 'left' } }, '0.359', { text: '0.100', textStyle: { bold: true, color: '#0070C0' } }, '0.040'],&#10;                        [{ text: 'Telugu', textStyle: { bold: true, textAlign: 'left' }, cellStyle: { background: { color: '#F4F8FC' } } }, { text: '0.431', cellStyle: { background: { color: '#F4F8FC' } } }, { text: '0.100', textStyle: { bold: true, color: '#0070C0' }, cellStyle: { background: { color: '#F4F8FC' } } }, { text: '0.039', cellStyle: { background: { color: '#F4F8FC' } } }],&#10;                        [{ text: 'Marathi', textStyle: { bold: true, textAlign: 'left' } }, '0.416', { text: '0.108', textStyle: { bold: true, color: '#0070C0' } }, '0.040'],&#10;                        [{ text: 'Hindi', textStyle: { bold: true, textAlign: 'left' }, cellStyle: { background: { color: '#F4F8FC' } } }, { text: '0.281', cellStyle: { background: { color: '#F4F8FC' } } }, { text: '0.113', textStyle: { bold: true, color: '#0070C0' }, cellStyle: { background: { color: '#F4F8FC' } } }, { text: '0.040', cellStyle: { background: { color: '#F4F8FC' } } }],&#10;                        [{ text: 'Tamil', textStyle: { bold: true, textAlign: 'left' } }, '0.501', { text: '0.129', textStyle: { bold: true, color: '#C00000' } }, '0.040'],&#10;                        [{ text: 'Odia', textStyle: { bold: true, textAlign: 'left' }, cellStyle: { background: { color: '#F4F8FC' } } }, { text: '0.509', cellStyle: { background: { color: '#F4F8FC' } } }, { text: '0.134', textStyle: { bold: true, color: '#C00000' }, cellStyle: { background: { color: '#F4F8FC' } } }, { text: '0.043', cellStyle: { background: { color: '#F4F8FC' } } }],&#10;                    ]}&#10;                /&gt;&#10;            &lt;/Box&gt;&#10;&#10;            &lt;Text style={{ fontSize: 12, color: '#5F5E5A', marginTop: 6, lineHeight: 1.35 }}&gt;&#10;                Model v2 (ctc-v2-int8) · 200 clips per language, 2,000 clips, 6.72 h · mean CER 0.093 · every language under 0.14.&#10;                Normalisation strips punctuation and case because the CTC decoder emits neither; raw WER runs ≈1.3× higher.&#10;            &lt;/Text&gt;&#10;        &lt;/Box&gt;&#10;&#10;        &lt;Box style={{ flex: 1, flexDirection: 'column', gap: 10 }}&gt;&#10;&#10;            &lt;Box style={{ flexDirection: 'row', alignItems: 'center', gap: 10, padding: '7px 12px', background: '#F4F8FC', borderLeft: '4px solid #0070C0', borderRadius: 4 }}&gt;&#10;                &lt;svg width={24} height={24} viewBox='0 0 24 24'&gt;&lt;circle cx={12} cy={12} r={9} fill='none' stroke='#0070C0' strokeWidth={2} /&gt;&lt;path d='M12 7v5l3.5 2' fill='none' stroke='#0070C0' strokeWidth={2} strokeLinecap='round' /&gt;&lt;/svg&gt;&#10;                &lt;Box style={{ flex: 1 }}&gt;&#10;                    &lt;Text style={{ fontSize: 14, fontWeight: 'bold', color: '#01467D' }}&gt;Fast local processing&lt;/Text&gt;&#10;                    &lt;Text style={{ fontSize: 13, color: '#1A1A1A', lineHeight: 1.35 }}&gt;RTF median 0.039–0.043 across all ten. A 3-second sentence costs ≈0.12 s of compute.&lt;/Text&gt;&#10;                &lt;/Box&gt;&#10;            &lt;/Box&gt;&#10;&#10;            &lt;Box style={{ flexDirection: 'row', alignItems: 'center', gap: 10, padding: '7px 12px', background: '#F4F8FC', borderLeft: '4px solid #0070C0', borderRadius: 4 }}&gt;&#10;                &lt;svg width={24} height={24} viewBox='0 0 24 24'&gt;&lt;path d='M17 21v-2a4 4 0 0 0-4-4H5a4 4 0 0 0-4 4v2' fill='none' stroke='#0070C0' strokeWidth={2} strokeLinecap='round' /&gt;&lt;circle cx={9} cy={7} r={4} fill='none' stroke='#0070C0' strokeWidth={2} /&gt;&lt;path d='M23 21v-2a4 4 0 0 0-3-3.87M16 3.13a4 4 0 0 1 0 7.75' fill='none' stroke='#0070C0' strokeWidth={2} strokeLinecap='round' /&gt;&lt;/svg&gt;&#10;                &lt;Box style={{ flex: 1 }}&gt;&#10;                    &lt;Text style={{ fontSize: 14, fontWeight: 'bold', color: '#01467D' }}&gt;Full multilingual coverage&lt;/Text&gt;&#10;                    &lt;Text style={{ fontSize: 13, color: '#1A1A1A', lineHeight: 1.35 }}&gt;All ten PS-mandated languages measured. Best Kannada 0.053, weakest Odia 0.134.&lt;/Text&gt;&#10;                &lt;/Box&gt;&#10;            &lt;/Box&gt;&#10;&#10;            &lt;Box style={{ flexDirection: 'row', alignItems: 'center', gap: 10, padding: '7px 12px', background: '#FFF6EC', borderLeft: '4px solid #E46C0A', borderRadius: 4 }}&gt;&#10;                &lt;svg width={24} height={24} viewBox='0 0 24 24'&gt;&lt;path d='M18 20V10M12 20V4M6 20v-6' fill='none' stroke='#E46C0A' strokeWidth={2} strokeLinecap='round' /&gt;&lt;/svg&gt;&#10;                &lt;Box style={{ flex: 1 }}&gt;&#10;                    &lt;Text style={{ fontSize: 14, fontWeight: 'bold', color: '#01467D' }}&gt;Against a far larger model&lt;/Text&gt;&#10;                    &lt;Text style={{ fontSize: 13, color: '#1A1A1A', lineHeight: 1.35 }}&gt;Meta's 7B LLM-ASR is 2–3× better — but it is 25 GiB and cannot run on a phone. Ours is 348 MB and does. Malayalam within 1.1×, Telugu 1.5×.&lt;/Text&gt;&#10;                &lt;/Box&gt;&#10;            &lt;/Box&gt;&#10;&#10;            &lt;Box style={{ flexDirection: 'row', gap: 8, marginTop: 2 }}&gt;&#10;                &lt;Box style={{ flex: 1, padding: '6px 12px', background: '#C00000', borderRadius: 4 }}&gt;&#10;                    &lt;Text style={{ fontSize: 13.5, fontWeight: 'bold', color: '#FFFFFF' }}&gt;Challenge / Risk&lt;/Text&gt;&#10;                &lt;/Box&gt;&#10;                &lt;Box style={{ flex: 1, padding: '6px 12px', background: '#00B050', borderRadius: 4 }}&gt;&#10;                    &lt;Text style={{ fontSize: 13.5, fontWeight: 'bold', color: '#FFFFFF' }}&gt;Engineering fix / Strategy&lt;/Text&gt;&#10;                &lt;/Box&gt;&#10;            &lt;/Box&gt;&#10;&#10;            &lt;Box style={{ flex: 1, flexDirection: 'column', gap: 7 }}&gt;&#10;                {[&#10;                    { r: 'The radio link has never connected — RFCOMM socket and Wi-Fi Direct group formation are unexecuted.', s: 'Next milestone: two physical phones. Adapter access and discovery already verified.' },&#10;                    { r: 'Every figure is from an API 34 emulator, not a low-end handset.', s: 'Benchmark on the cheapest available phone first; ship a release build.' },&#10;                    { r: 'Hindi degrades sharply in noise — CER 0.133 → 0.424 at 30 dB SNR.', s: 'Report CER beside WER; add a noise-robust front end; scope the demo to Hindi + English.' },&#10;                    { r: 'Kannada, Tamil and Odia TTS voices are not yet wired.', s: 'Route through espeak-ng; ship one voice per language to cut APK size.' },&#10;                ].map((p, i) =&gt; (&#10;                    &lt;Box key={i} style={{ flexDirection: 'row', gap: 10, flex: 1, alignItems: 'center' }}&gt;&#10;                        &lt;Box style={{ flex: 1, height: '100%', justifyContent: 'center' }}&gt;&#10;                            &lt;Text style={{ fontSize: 12.5, color: '#1A1A1A', lineHeight: 1.3 }}&gt;{p.r}&lt;/Text&gt;&#10;                        &lt;/Box&gt;&#10;                        &lt;svg width={18} height={18} viewBox='0 0 24 24'&gt;&#10;                            &lt;path d='M5 12h14M13 6l6 6-6 6' fill='none' stroke='#00B050' strokeWidth='2.5' /&gt;&#10;                        &lt;/svg&gt;&#10;                        &lt;Box style={{ flex: 1, height: '100%', justifyContent: 'center' }}&gt;&#10;                            &lt;Text style={{ fontSize: 12.5, color: '#1A1A1A', lineHeight: 1.3 }}&gt;{p.s}&lt;/Text&gt;&#10;                        &lt;/Box&gt;&#10;                    &lt;/Box&gt;&#10;                ))}&#10;            &lt;/Box&gt;&#10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457200" y="409575"/>
            <a:ext cx="1428750" cy="533400"/>
          </a:xfrm>
          <a:prstGeom prst="roundRect">
            <a:avLst>
              <a:gd name="adj" fmla="val 50000"/>
            </a:avLst>
          </a:prstGeom>
          <a:ln w="1905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76300" y="409575"/>
            <a:ext cx="600075" cy="5429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B.J.P</a:t>
            </a:r>
            <a:endParaRPr/>
          </a:p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Bug Janta</a:t>
            </a:r>
            <a:endParaRPr/>
          </a:p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Party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3067050" y="304800"/>
            <a:ext cx="6057900" cy="504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300" b="1">
                <a:solidFill>
                  <a:srgbClr val="1A1A1A"/>
                </a:solidFill>
                <a:latin typeface="Times New Roman"/>
                <a:ea typeface="Times New Roman"/>
              </a:rPr>
              <a:t>FEASIBILITY AND VIABILITY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3695700" y="847725"/>
            <a:ext cx="4810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5F5E5A"/>
                </a:solidFill>
                <a:latin typeface="Calibri"/>
                <a:ea typeface="Calibri"/>
              </a:rPr>
              <a:t>Analysis of the feasibility of the idea  ·  measured, not projected</a:t>
            </a:r>
            <a:endParaRPr/>
          </a:p>
        </p:txBody>
      </p:sp>
      <p:pic>
        <p:nvPicPr>
          <p:cNvPr id="171" name=""/>
          <p:cNvPicPr>
            <a:picLocks noChangeAspect="1"/>
          </p:cNvPicPr>
          <p:nvPr/>
        </p:nvPicPr>
        <p:blipFill>
          <a:blip r:embed="rId1"/>
          <a:srcRect l="0" t="84" r="0" b="84"/>
          <a:stretch>
            <a:fillRect/>
          </a:stretch>
        </p:blipFill>
        <p:spPr>
          <a:xfrm rot="0" flipH="0" flipV="0">
            <a:off x="10401300" y="361950"/>
            <a:ext cx="1333500" cy="628650"/>
          </a:xfrm>
          <a:prstGeom prst="rect">
            <a:avLst/>
          </a:prstGeom>
          <a:ln/>
        </p:spPr>
      </p:pic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57200" y="1162050"/>
            <a:ext cx="3914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1467D"/>
                </a:solidFill>
                <a:latin typeface="Calibri"/>
                <a:ea typeface="Calibri"/>
              </a:rPr>
              <a:t>Offline ASR on real human speech — Google FLEURS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172200" y="1162050"/>
            <a:ext cx="771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5E5A"/>
                </a:solidFill>
                <a:latin typeface="Calibri"/>
                <a:ea typeface="Calibri"/>
              </a:rPr>
              <a:t>lower is better</a:t>
            </a:r>
            <a:endParaRPr/>
          </a:p>
        </p:txBody>
      </p:sp>
      <p:graphicFrame>
        <p:nvGraphicFramePr>
          <p:cNvPr id="174" name=""/>
          <p:cNvGraphicFramePr/>
          <p:nvPr/>
        </p:nvGraphicFramePr>
        <p:xfrm rot="0" flipH="0" flipV="0">
          <a:off x="457200" y="1428750"/>
          <a:ext cx="6486525" cy="4257675"/>
        </p:xfrm>
        <a:graphic>
          <a:graphicData uri="http://schemas.openxmlformats.org/drawingml/2006/table">
            <a:tbl>
              <a:tblGrid>
                <a:gridCol w="1506622">
                  <a:extLst>
                    <a:ext uri="{9D8B030D-6E8A-4147-A177-3AD203B41FA5}">
                      <a16:colId val="1"/>
                    </a:ext>
                  </a:extLst>
                </a:gridCol>
                <a:gridCol w="1679136">
                  <a:extLst>
                    <a:ext uri="{9D8B030D-6E8A-4147-A177-3AD203B41FA5}">
                      <a16:colId val="2"/>
                    </a:ext>
                  </a:extLst>
                </a:gridCol>
                <a:gridCol w="1621631">
                  <a:extLst>
                    <a:ext uri="{9D8B030D-6E8A-4147-A177-3AD203B41FA5}">
                      <a16:colId val="3"/>
                    </a:ext>
                  </a:extLst>
                </a:gridCol>
                <a:gridCol w="1679136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8706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Language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1467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WER (norm)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1467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CER (norm)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1467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RTF median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1467D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8706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Kannada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0.307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</a:rPr>
                        <a:t>0.053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0.041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8706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Malayalam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0.361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</a:rPr>
                        <a:t>0.059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0.041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706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English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0.181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</a:rPr>
                        <a:t>0.067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0.040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706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Gujarati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0.300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</a:rPr>
                        <a:t>0.071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0.041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8706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Bengali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0.359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</a:rPr>
                        <a:t>0.100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0.040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8706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Telugu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0.431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</a:rPr>
                        <a:t>0.100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0.039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8706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Marathi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0.416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</a:rPr>
                        <a:t>0.108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0.040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8706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Hindi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0.281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</a:rPr>
                        <a:t>0.113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0.040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38706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Tamil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0.501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</a:rPr>
                        <a:t>0.129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0.040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38706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Odia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0.509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</a:rPr>
                        <a:t>0.134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0.043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</a:tbl>
          </a:graphicData>
        </a:graphic>
      </p:graphicFrame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57200" y="5743575"/>
            <a:ext cx="64865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Model v2 (ctc-v2-int8) · 200 clips per language, 2,000 clips, 6.72 h · mean CER 0.093 · every language under 0.14. Normalisation strips punctuation and case because the CTC decoder emits neither; raw WER runs ≈1.3× higher.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7210425" y="1162050"/>
            <a:ext cx="4562475" cy="704850"/>
          </a:xfrm>
          <a:prstGeom prst="roundRect">
            <a:avLst>
              <a:gd name="adj" fmla="val 5405"/>
            </a:avLst>
          </a:prstGeom>
          <a:solidFill>
            <a:srgbClr val="F4F8FC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7210425" y="1162050"/>
            <a:ext cx="4562475" cy="704850"/>
          </a:xfrm>
          <a:custGeom>
            <a:pathLst>
              <a:path w="479" h="74">
                <a:moveTo>
                  <a:pt x="4" y="74"/>
                </a:moveTo>
                <a:cubicBezTo>
                  <a:pt x="2" y="74"/>
                  <a:pt x="0" y="72"/>
                  <a:pt x="0" y="7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4"/>
                </a:lnTo>
                <a:close/>
              </a:path>
            </a:pathLst>
          </a:custGeom>
          <a:solidFill>
            <a:srgbClr val="0070C0"/>
          </a:solidFill>
          <a:ln/>
        </p:spPr>
        <p:txBody>
          <a:bodyPr/>
          <a:p/>
        </p:txBody>
      </p:sp>
      <p:pic>
        <p:nvPicPr>
          <p:cNvPr id="1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24725" y="1400175"/>
            <a:ext cx="228600" cy="228600"/>
          </a:xfrm>
          <a:prstGeom prst="rect">
            <a:avLst/>
          </a:prstGeom>
          <a:ln/>
        </p:spPr>
      </p:pic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648575" y="1228725"/>
            <a:ext cx="397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1467D"/>
                </a:solidFill>
                <a:latin typeface="Calibri"/>
                <a:ea typeface="Calibri"/>
              </a:rPr>
              <a:t>Fast local processing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648575" y="1390650"/>
            <a:ext cx="397192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RTF median 0.039–0.043 across all ten. A 3-second sentence costs ≈0.12 s of compute.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7210425" y="1962150"/>
            <a:ext cx="4562475" cy="704850"/>
          </a:xfrm>
          <a:prstGeom prst="roundRect">
            <a:avLst>
              <a:gd name="adj" fmla="val 5405"/>
            </a:avLst>
          </a:prstGeom>
          <a:solidFill>
            <a:srgbClr val="F4F8FC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7210425" y="1962150"/>
            <a:ext cx="4562475" cy="704850"/>
          </a:xfrm>
          <a:custGeom>
            <a:pathLst>
              <a:path w="479" h="74">
                <a:moveTo>
                  <a:pt x="4" y="74"/>
                </a:moveTo>
                <a:cubicBezTo>
                  <a:pt x="2" y="74"/>
                  <a:pt x="0" y="72"/>
                  <a:pt x="0" y="7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4"/>
                </a:lnTo>
                <a:close/>
              </a:path>
            </a:pathLst>
          </a:custGeom>
          <a:solidFill>
            <a:srgbClr val="0070C0"/>
          </a:solidFill>
          <a:ln/>
        </p:spPr>
        <p:txBody>
          <a:bodyPr/>
          <a:p/>
        </p:txBody>
      </p:sp>
      <p:pic>
        <p:nvPicPr>
          <p:cNvPr id="1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324725" y="2200275"/>
            <a:ext cx="228600" cy="228600"/>
          </a:xfrm>
          <a:prstGeom prst="rect">
            <a:avLst/>
          </a:prstGeom>
          <a:ln/>
        </p:spPr>
      </p:pic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648575" y="2028825"/>
            <a:ext cx="397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1467D"/>
                </a:solidFill>
                <a:latin typeface="Calibri"/>
                <a:ea typeface="Calibri"/>
              </a:rPr>
              <a:t>Full multilingual coverage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648575" y="2190750"/>
            <a:ext cx="397192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All ten PS-mandated languages measured. Best Kannada 0.053, weakest Odia 0.134.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7210425" y="2762250"/>
            <a:ext cx="4562475" cy="704850"/>
          </a:xfrm>
          <a:prstGeom prst="roundRect">
            <a:avLst>
              <a:gd name="adj" fmla="val 5405"/>
            </a:avLst>
          </a:prstGeom>
          <a:solidFill>
            <a:srgbClr val="FFF6EC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7210425" y="2762250"/>
            <a:ext cx="4562475" cy="704850"/>
          </a:xfrm>
          <a:custGeom>
            <a:pathLst>
              <a:path w="479" h="74">
                <a:moveTo>
                  <a:pt x="4" y="74"/>
                </a:moveTo>
                <a:cubicBezTo>
                  <a:pt x="2" y="74"/>
                  <a:pt x="0" y="72"/>
                  <a:pt x="0" y="7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4"/>
                </a:lnTo>
                <a:close/>
              </a:path>
            </a:pathLst>
          </a:custGeom>
          <a:solidFill>
            <a:srgbClr val="E46C0A"/>
          </a:solidFill>
          <a:ln/>
        </p:spPr>
        <p:txBody>
          <a:bodyPr/>
          <a:p/>
        </p:txBody>
      </p:sp>
      <p:pic>
        <p:nvPicPr>
          <p:cNvPr id="1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324725" y="3000375"/>
            <a:ext cx="228600" cy="228600"/>
          </a:xfrm>
          <a:prstGeom prst="rect">
            <a:avLst/>
          </a:prstGeom>
          <a:ln/>
        </p:spPr>
      </p:pic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7648575" y="2828925"/>
            <a:ext cx="397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1467D"/>
                </a:solidFill>
                <a:latin typeface="Calibri"/>
                <a:ea typeface="Calibri"/>
              </a:rPr>
              <a:t>Against a far larger model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7648575" y="2990850"/>
            <a:ext cx="397192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Meta's 7B LLM-ASR is 2–3× better — but it is 25 GiB and cannot run on a phone. Ours is 348 MB and does. Malayalam within 1.1×, Telugu 1.5×.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7172325" y="3581400"/>
            <a:ext cx="2247900" cy="276225"/>
          </a:xfrm>
          <a:prstGeom prst="roundRect">
            <a:avLst>
              <a:gd name="adj" fmla="val 13793"/>
            </a:avLst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286625" y="3638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FFFFF"/>
                </a:solidFill>
                <a:latin typeface="Calibri"/>
                <a:ea typeface="Calibri"/>
              </a:rPr>
              <a:t>Challenge / Risk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9496425" y="3581400"/>
            <a:ext cx="2238375" cy="276225"/>
          </a:xfrm>
          <a:prstGeom prst="roundRect">
            <a:avLst>
              <a:gd name="adj" fmla="val 13793"/>
            </a:avLst>
          </a:prstGeom>
          <a:solidFill>
            <a:srgbClr val="00B050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9610725" y="3638550"/>
            <a:ext cx="2009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FFFFF"/>
                </a:solidFill>
                <a:latin typeface="Calibri"/>
                <a:ea typeface="Calibri"/>
              </a:rPr>
              <a:t>Engineering fix / Strategy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172325" y="3971925"/>
            <a:ext cx="2105025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938">
                <a:solidFill>
                  <a:srgbClr val="1A1A1A"/>
                </a:solidFill>
                <a:latin typeface="Calibri"/>
                <a:ea typeface="Calibri"/>
              </a:rPr>
              <a:t>The radio link has never connected — RFCOMM socket and Wi-Fi Direct group formation are unexecuted.</a:t>
            </a:r>
            <a:endParaRPr/>
          </a:p>
        </p:txBody>
      </p:sp>
      <p:pic>
        <p:nvPicPr>
          <p:cNvPr id="1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372600" y="4162425"/>
            <a:ext cx="171450" cy="171450"/>
          </a:xfrm>
          <a:prstGeom prst="rect">
            <a:avLst/>
          </a:prstGeom>
          <a:ln/>
        </p:spPr>
      </p:pic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9639300" y="3971925"/>
            <a:ext cx="2095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938">
                <a:solidFill>
                  <a:srgbClr val="1A1A1A"/>
                </a:solidFill>
                <a:latin typeface="Calibri"/>
                <a:ea typeface="Calibri"/>
              </a:rPr>
              <a:t>Next milestone: two physical phones. Adapter access and discovery already verified.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172325" y="4619625"/>
            <a:ext cx="21050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938">
                <a:solidFill>
                  <a:srgbClr val="1A1A1A"/>
                </a:solidFill>
                <a:latin typeface="Calibri"/>
                <a:ea typeface="Calibri"/>
              </a:rPr>
              <a:t>Every figure is from an API 34 emulator, not a low-end handset.</a:t>
            </a:r>
            <a:endParaRPr/>
          </a:p>
        </p:txBody>
      </p:sp>
      <p:pic>
        <p:nvPicPr>
          <p:cNvPr id="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372600" y="4724400"/>
            <a:ext cx="171450" cy="171450"/>
          </a:xfrm>
          <a:prstGeom prst="rect">
            <a:avLst/>
          </a:prstGeom>
          <a:ln/>
        </p:spPr>
      </p:pic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639300" y="4619625"/>
            <a:ext cx="20955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938">
                <a:solidFill>
                  <a:srgbClr val="1A1A1A"/>
                </a:solidFill>
                <a:latin typeface="Calibri"/>
                <a:ea typeface="Calibri"/>
              </a:rPr>
              <a:t>Benchmark on the cheapest available phone first; ship a release build.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172325" y="5181600"/>
            <a:ext cx="21050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938">
                <a:solidFill>
                  <a:srgbClr val="1A1A1A"/>
                </a:solidFill>
                <a:latin typeface="Calibri"/>
                <a:ea typeface="Calibri"/>
              </a:rPr>
              <a:t>Hindi degrades sharply in noise — CER 0.133 → 0.424 at 30 dB SNR.</a:t>
            </a:r>
            <a:endParaRPr/>
          </a:p>
        </p:txBody>
      </p:sp>
      <p:pic>
        <p:nvPicPr>
          <p:cNvPr id="2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372600" y="5276850"/>
            <a:ext cx="171450" cy="171450"/>
          </a:xfrm>
          <a:prstGeom prst="rect">
            <a:avLst/>
          </a:prstGeom>
          <a:ln/>
        </p:spPr>
      </p:pic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9639300" y="5086350"/>
            <a:ext cx="2095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938">
                <a:solidFill>
                  <a:srgbClr val="1A1A1A"/>
                </a:solidFill>
                <a:latin typeface="Calibri"/>
                <a:ea typeface="Calibri"/>
              </a:rPr>
              <a:t>Report CER beside WER; add a noise-robust front end; scope the demo to Hindi + English.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172325" y="5734050"/>
            <a:ext cx="21050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938">
                <a:solidFill>
                  <a:srgbClr val="1A1A1A"/>
                </a:solidFill>
                <a:latin typeface="Calibri"/>
                <a:ea typeface="Calibri"/>
              </a:rPr>
              <a:t>Kannada, Tamil and Odia TTS voices are not yet wired.</a:t>
            </a:r>
            <a:endParaRPr/>
          </a:p>
        </p:txBody>
      </p:sp>
      <p:pic>
        <p:nvPicPr>
          <p:cNvPr id="2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372600" y="5838825"/>
            <a:ext cx="171450" cy="171450"/>
          </a:xfrm>
          <a:prstGeom prst="rect">
            <a:avLst/>
          </a:prstGeom>
          <a:ln/>
        </p:spPr>
      </p:pic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9639300" y="5734050"/>
            <a:ext cx="20955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938">
                <a:solidFill>
                  <a:srgbClr val="1A1A1A"/>
                </a:solidFill>
                <a:latin typeface="Calibri"/>
                <a:ea typeface="Calibri"/>
              </a:rPr>
              <a:t>Route through espeak-ng; ship one voice per language to cut APK size.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0" y="6324600"/>
            <a:ext cx="12192000" cy="53340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</a:rPr>
              <a:t>B.J.P (Bug Janta Party)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172075" y="6515100"/>
            <a:ext cx="1847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Calibri"/>
                <a:ea typeface="Calibri"/>
              </a:rPr>
              <a:t>@SIH Idea submission- Template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487150" y="65151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alibri"/>
                <a:ea typeface="Calibri"/>
              </a:rPr>
              <a:t>4 / 6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11" name="" descr="&lt;Slide style={{ width: 1280, height: 720, padding: '34px 48px 78px 48px', background: '#FFFFFF', fontFamily: 'Calibri', display: 'flex', flexDirection: 'column', position: 'relative' }}&gt;&#10;&#10;    &lt;Box style={{ position: 'absolute', left: 0, bottom: 0, width: 1280, height: 56, background: '#0070C0', flexDirection: 'row', alignItems: 'center', padding: '0 48px' }}&gt;&#10;        &lt;Box style={{ width: 210 }}&gt;&#10;            &lt;Text style={{ fontSize: 14, fontWeight: 'bold', color: '#FFFFFF' }}&gt;B.J.P (Bug Janta Party)&lt;/Text&gt;&#10;        &lt;/Box&gt;&#10;        &lt;Box style={{ flex: 1, alignItems: 'center' }}&gt;&#10;            &lt;Text style={{ fontSize: 13, color: '#FFFFFF' }}&gt;@SIH Idea submission- Template&lt;/Text&gt;&#10;        &lt;/Box&gt;&#10;        &lt;Box style={{ width: 210, alignItems: 'flex-end' }}&gt;&#10;            &lt;Text style={{ fontSize: 13, fontWeight: 'bold', color: '#FFFFFF' }}&gt;5 / 6&lt;/Text&gt;&#10;        &lt;/Box&gt;&#10;    &lt;/Box&gt;&#10;&#10;    &lt;Box style={{ flexDirection: 'row', alignItems: 'center', height: 74 }}&gt;&#10;        &lt;Box style={{ width: 150, flexDirection: 'row', alignItems: 'center', justifyContent: 'center', height: 56, borderRadius: 28, border: '1.5px solid #7030A0' }}&gt;&#10;            &lt;Text style={{ fontSize: 13, fontWeight: 'bold', color: '#7030A0', textAlign: 'center', lineHeight: 1.2 }}&gt;B.J.P{'\n'}Bug Janta{'\n'}Party&lt;/Text&gt;&#10;        &lt;/Box&gt;&#10;        &lt;Box style={{ flex: 1, alignItems: 'center' }}&gt;&#10;            &lt;Text style={{ fontSize: 44, fontWeight: 'bold', fontFamily: 'Times New Roman', color: '#1A1A1A', textAlign: 'center' }}&gt;&#10;                IMPACT AND BENEFITS&#10;            &lt;/Text&gt;&#10;            &lt;Text style={{ fontSize: 18, color: '#5F5E5A', marginTop: 4 }}&gt;The network carries text. The device handles the voice.&lt;/Text&gt;&#10;        &lt;/Box&gt;&#10;        &lt;Box style={{ width: 150, alignItems: 'flex-end' }}&gt;&#10;            &lt;Image src='assets/sih_logo.png' style={{ width: 140, height: 66 }} /&gt;&#10;        &lt;/Box&gt;&#10;    &lt;/Box&gt;&#10;&#10;    &lt;Box style={{ flex: 1, flexDirection: 'column', marginTop: 14 }}&gt;&#10;&#10;        &lt;Text style={{ fontSize: 16, fontWeight: 'bold', color: '#01467D' }}&gt;Potential impact on the target audience&lt;/Text&gt;&#10;&#10;        &lt;Box style={{ flexDirection: 'row', gap: 16, marginTop: 10 }}&gt;&#10;            {[&#10;                { i: 'briefcase', t: 'Field responders', d: 'Communicate over constrained or congested local links, with no infrastructure to depend on.' },&#10;                { i: 'shield', t: 'Disaster / shelter teams', d: 'Useful exactly when reliable internet and cellular networks are unavailable.' },&#10;                { i: 'cog', t: 'Remote / industrial sites', d: 'Short voice communication where the link is narrow and bandwidth is at a premium.' },&#10;            ].map((a, i) =&gt; (&#10;                &lt;Box key={i} style={{ flex: 1, flexDirection: 'row', gap: 12, padding: '12px 14px', background: '#F4F8FC', border: '1px solid #B4B2A9', borderRadius: 6, alignItems: 'flex-start' }}&gt;&#10;                    {i === 0&#10;                        ? (&lt;svg width={26} height={26} viewBox='0 0 24 24'&gt;&lt;rect x={2} y={7} width={20} height={14} rx={2} fill='none' stroke='#0070C0' strokeWidth={2} /&gt;&lt;path d='M16 21V5a2 2 0 0 0-2-2h-4a2 2 0 0 0-2 2v16' fill='none' stroke='#0070C0' strokeWidth={2} strokeLinecap='round' /&gt;&lt;/svg&gt;)&#10;                        : i === 1&#10;                            ? (&lt;svg width={26} height={26} viewBox='0 0 24 24'&gt;&lt;path d='M12 22s8-4 8-10V5l-8-3-8 3v7c0 6 8 10 8 10z' fill='none' stroke='#0070C0' strokeWidth={2} strokeLinejoin='round' /&gt;&lt;/svg&gt;)&#10;                            : (&lt;svg width={26} height={26} viewBox='0 0 24 24'&gt;&lt;circle cx={12} cy={12} r={3} fill='none' stroke='#0070C0' strokeWidth={2} /&gt;&lt;path d='M12 2v3M12 19v3M2 12h3M19 12h3M4.9 4.9l2.1 2.1M17 17l2.1 2.1M19.1 4.9L17 7M7 17l-2.1 2.1' fill='none' stroke='#0070C0' strokeWidth={2} strokeLinecap='round' /&gt;&lt;/svg&gt;)}&#10;                    &lt;Box style={{ flex: 1 }}&gt;&#10;                        &lt;Text style={{ fontSize: 15, fontWeight: 'bold', color: '#01467D' }}&gt;{a.t}&lt;/Text&gt;&#10;                        &lt;Text style={{ fontSize: 13, color: '#1A1A1A', lineHeight: 1.35, marginTop: 3 }}&gt;{a.d}&lt;/Text&gt;&#10;                    &lt;/Box&gt;&#10;                &lt;/Box&gt;&#10;            ))}&#10;        &lt;/Box&gt;&#10;&#10;        &lt;Text style={{ fontSize: 16, fontWeight: 'bold', color: '#01467D', marginTop: 18 }}&gt;Benefits of the solution&lt;/Text&gt;&#10;&#10;        &lt;Box style={{ flexDirection: 'row', gap: 16, marginTop: 10, flex: 1, alignItems: 'stretch' }}&gt;&#10;            {[&#10;                { i: 'users', h: 'Social', b: 'Voice in, voice out. Usable by people who cannot read or type, because alerts are heard rather than read.', f: 'Inclusive by construction, not by add-on.' },&#10;                { i: 'dollar', h: 'Economic', b: 'No paid API, no cloud subscription, no proprietary SDK. It runs on phones people already own.', f: 'Every model is Apache 2.0 or MIT — no licence fee.' },&#10;                { i: 'chart-line', h: 'Environmental', b: 'Sending text instead of audio lowers the transmitted energy per message by roughly three orders of magnitude.', f: 'Battery runtime effect still to be measured.' },&#10;            ].map((c, i) =&gt; (&#10;                &lt;Box key={i} style={{ flex: 1, background: '#FFFFFF', borderTop: '4px solid #01467D', borderRight: '1px solid #B4B2A9', borderBottom: '1px solid #B4B2A9', borderLeft: '1px solid #B4B2A9', borderRadius: 6, padding: 16, flexDirection: 'column' }}&gt;&#10;                    {i === 0&#10;                        ? (&lt;svg width={28} height={28} viewBox='0 0 24 24'&gt;&lt;path d='M17 21v-2a4 4 0 0 0-4-4H5a4 4 0 0 0-4 4v2' fill='none' stroke='#0070C0' strokeWidth={2} strokeLinecap='round' /&gt;&lt;circle cx={9} cy={7} r={4} fill='none' stroke='#0070C0' strokeWidth={2} /&gt;&lt;path d='M23 21v-2a4 4 0 0 0-3-3.87M16 3.13a4 4 0 0 1 0 7.75' fill='none' stroke='#0070C0' strokeWidth={2} strokeLinecap='round' /&gt;&lt;/svg&gt;)&#10;                        : i === 1&#10;                            ? (&lt;svg width={28} height={28} viewBox='0 0 24 24'&gt;&lt;path d='M12 1v22' fill='none' stroke='#0070C0' strokeWidth={2} /&gt;&lt;path d='M17 5H9.5a3.5 3.5 0 0 0 0 7h5a3.5 3.5 0 0 1 0 7H6' fill='none' stroke='#0070C0' strokeWidth={2} strokeLinecap='round' /&gt;&lt;/svg&gt;)&#10;                            : (&lt;svg width={28} height={28} viewBox='0 0 24 24'&gt;&lt;path d='M23 6l-9.5 9.5-5-5L1 18' fill='none' stroke='#0070C0' strokeWidth={2} strokeLinecap='round' /&gt;&lt;path d='M17 6h6v6' fill='none' stroke='#0070C0' strokeWidth={2} strokeLinecap='round' /&gt;&lt;/svg&gt;)}&#10;                    &lt;Text style={{ fontSize: 18, fontWeight: 'bold', color: '#01467D', marginTop: 8 }}&gt;{c.h}&lt;/Text&gt;&#10;                    &lt;Text style={{ fontSize: 13.5, color: '#1A1A1A', lineHeight: 1.45, marginTop: 6 }}&gt;{c.b}&lt;/Text&gt;&#10;                    &lt;Box style={{ flex: 1 }} /&gt;&#10;                    &lt;Box style={{ paddingTop: 10, borderTop: '1px solid #D8D6CE' }}&gt;&#10;                        &lt;Text style={{ fontSize: 12.5, color: '#5F5E5A', lineHeight: 1.35 }}&gt;{c.f}&lt;/Text&gt;&#10;                    &lt;/Box&gt;&#10;                &lt;/Box&gt;&#10;            ))}&#10;        &lt;/Box&gt;&#10;&#10;        &lt;Box style={{ marginTop: 14, padding: '12px 16px', background: '#FFF6EC', borderLeft: '4px solid #E46C0A', borderRadius: 4 }}&gt;&#10;            &lt;Text style={{ fontSize: 13.5, color: '#1A1A1A', lineHeight: 1.4 }}&gt;&#10;                &lt;span style={{ fontWeight: 'bold', color: '#01467D' }}&gt;What is measured and what is not.&lt;/span&gt; Measured: accuracy on 2,000 real-speech clips across all ten languages, Android ASR and TTS latency, and memory with the model resident. Not yet measured: field accuracy in noise, phone-class latency, human TTS legibility, and battery runtime. The benefits above are &lt;span style={{ fontWeight: 'bold' }}&gt;proposed outcomes, not measured results&lt;/span&gt; — we claim no lives saved.&#10;            &lt;/Text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457200" y="409575"/>
            <a:ext cx="1428750" cy="533400"/>
          </a:xfrm>
          <a:prstGeom prst="roundRect">
            <a:avLst>
              <a:gd name="adj" fmla="val 50000"/>
            </a:avLst>
          </a:prstGeom>
          <a:ln w="1905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76300" y="409575"/>
            <a:ext cx="600075" cy="5429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B.J.P</a:t>
            </a:r>
            <a:endParaRPr/>
          </a:p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Bug Janta</a:t>
            </a:r>
            <a:endParaRPr/>
          </a:p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Party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3667125" y="304800"/>
            <a:ext cx="4867275" cy="504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300" b="1">
                <a:solidFill>
                  <a:srgbClr val="1A1A1A"/>
                </a:solidFill>
                <a:latin typeface="Times New Roman"/>
                <a:ea typeface="Times New Roman"/>
              </a:rPr>
              <a:t>IMPACT AND BENEFITS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000500" y="847725"/>
            <a:ext cx="4200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5F5E5A"/>
                </a:solidFill>
                <a:latin typeface="Calibri"/>
                <a:ea typeface="Calibri"/>
              </a:rPr>
              <a:t>The network carries text. The device handles the voice.</a:t>
            </a:r>
            <a:endParaRPr/>
          </a:p>
        </p:txBody>
      </p:sp>
      <p:pic>
        <p:nvPicPr>
          <p:cNvPr id="217" name=""/>
          <p:cNvPicPr>
            <a:picLocks noChangeAspect="1"/>
          </p:cNvPicPr>
          <p:nvPr/>
        </p:nvPicPr>
        <p:blipFill>
          <a:blip r:embed="rId1"/>
          <a:srcRect l="0" t="84" r="0" b="84"/>
          <a:stretch>
            <a:fillRect/>
          </a:stretch>
        </p:blipFill>
        <p:spPr>
          <a:xfrm rot="0" flipH="0" flipV="0">
            <a:off x="10401300" y="361950"/>
            <a:ext cx="1333500" cy="628650"/>
          </a:xfrm>
          <a:prstGeom prst="rect">
            <a:avLst/>
          </a:prstGeom>
          <a:ln/>
        </p:spPr>
      </p:pic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57200" y="1162050"/>
            <a:ext cx="1127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1467D"/>
                </a:solidFill>
                <a:latin typeface="Calibri"/>
                <a:ea typeface="Calibri"/>
              </a:rPr>
              <a:t>Potential impact on the target audience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457200" y="1447800"/>
            <a:ext cx="3657600" cy="838200"/>
          </a:xfrm>
          <a:prstGeom prst="roundRect">
            <a:avLst>
              <a:gd name="adj" fmla="val 6818"/>
            </a:avLst>
          </a:prstGeom>
          <a:solidFill>
            <a:srgbClr val="F4F8FC"/>
          </a:solidFill>
          <a:ln w="12700">
            <a:solidFill>
              <a:srgbClr val="B4B2A9"/>
            </a:solidFill>
            <a:prstDash val="solid"/>
          </a:ln>
        </p:spPr>
        <p:txBody>
          <a:bodyPr/>
          <a:p/>
        </p:txBody>
      </p:sp>
      <p:pic>
        <p:nvPicPr>
          <p:cNvPr id="2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0550" y="1562100"/>
            <a:ext cx="247650" cy="247650"/>
          </a:xfrm>
          <a:prstGeom prst="rect">
            <a:avLst/>
          </a:prstGeom>
          <a:ln/>
        </p:spPr>
      </p:pic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52500" y="1562100"/>
            <a:ext cx="302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1467D"/>
                </a:solidFill>
                <a:latin typeface="Calibri"/>
                <a:ea typeface="Calibri"/>
              </a:rPr>
              <a:t>Field responders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952500" y="1762125"/>
            <a:ext cx="30289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Communicate over constrained or congested local links, with no infrastructure to depend on.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4267200" y="1447800"/>
            <a:ext cx="3657600" cy="838200"/>
          </a:xfrm>
          <a:prstGeom prst="roundRect">
            <a:avLst>
              <a:gd name="adj" fmla="val 6818"/>
            </a:avLst>
          </a:prstGeom>
          <a:solidFill>
            <a:srgbClr val="F4F8FC"/>
          </a:solidFill>
          <a:ln w="12700">
            <a:solidFill>
              <a:srgbClr val="B4B2A9"/>
            </a:solidFill>
            <a:prstDash val="solid"/>
          </a:ln>
        </p:spPr>
        <p:txBody>
          <a:bodyPr/>
          <a:p/>
        </p:txBody>
      </p:sp>
      <p:pic>
        <p:nvPicPr>
          <p:cNvPr id="2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400550" y="1562100"/>
            <a:ext cx="247650" cy="247650"/>
          </a:xfrm>
          <a:prstGeom prst="rect">
            <a:avLst/>
          </a:prstGeom>
          <a:ln/>
        </p:spPr>
      </p:pic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762500" y="1562100"/>
            <a:ext cx="302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1467D"/>
                </a:solidFill>
                <a:latin typeface="Calibri"/>
                <a:ea typeface="Calibri"/>
              </a:rPr>
              <a:t>Disaster / shelter teams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762500" y="1762125"/>
            <a:ext cx="30289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Useful exactly when reliable internet and cellular networks are unavailable.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8077200" y="1447800"/>
            <a:ext cx="3657600" cy="838200"/>
          </a:xfrm>
          <a:prstGeom prst="roundRect">
            <a:avLst>
              <a:gd name="adj" fmla="val 6818"/>
            </a:avLst>
          </a:prstGeom>
          <a:solidFill>
            <a:srgbClr val="F4F8FC"/>
          </a:solidFill>
          <a:ln w="12700">
            <a:solidFill>
              <a:srgbClr val="B4B2A9"/>
            </a:solidFill>
            <a:prstDash val="solid"/>
          </a:ln>
        </p:spPr>
        <p:txBody>
          <a:bodyPr/>
          <a:p/>
        </p:txBody>
      </p:sp>
      <p:pic>
        <p:nvPicPr>
          <p:cNvPr id="2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210550" y="1562100"/>
            <a:ext cx="247650" cy="247650"/>
          </a:xfrm>
          <a:prstGeom prst="rect">
            <a:avLst/>
          </a:prstGeom>
          <a:ln/>
        </p:spPr>
      </p:pic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572500" y="1562100"/>
            <a:ext cx="302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1467D"/>
                </a:solidFill>
                <a:latin typeface="Calibri"/>
                <a:ea typeface="Calibri"/>
              </a:rPr>
              <a:t>Remote / industrial sites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572500" y="1762125"/>
            <a:ext cx="30289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Short voice communication where the link is narrow and bandwidth is at a premium.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57200" y="2457450"/>
            <a:ext cx="1127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1467D"/>
                </a:solidFill>
                <a:latin typeface="Calibri"/>
                <a:ea typeface="Calibri"/>
              </a:rPr>
              <a:t>Benefits of the solution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466725" y="2781300"/>
            <a:ext cx="3657600" cy="2352675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466725" y="2781300"/>
            <a:ext cx="3657600" cy="2352675"/>
          </a:xfrm>
          <a:custGeom>
            <a:pathLst>
              <a:path w="384" h="247">
                <a:moveTo>
                  <a:pt x="6" y="0"/>
                </a:moveTo>
                <a:cubicBezTo>
                  <a:pt x="3" y="0"/>
                  <a:pt x="1" y="2"/>
                  <a:pt x="1" y="5"/>
                </a:cubicBezTo>
                <a:lnTo>
                  <a:pt x="1" y="242"/>
                </a:lnTo>
                <a:cubicBezTo>
                  <a:pt x="1" y="244"/>
                  <a:pt x="2" y="246"/>
                  <a:pt x="5" y="247"/>
                </a:cubicBezTo>
                <a:cubicBezTo>
                  <a:pt x="2" y="246"/>
                  <a:pt x="0" y="244"/>
                  <a:pt x="0" y="2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4B2A9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466725" y="2781300"/>
            <a:ext cx="3657600" cy="2352675"/>
          </a:xfrm>
          <a:custGeom>
            <a:pathLst>
              <a:path w="384" h="247">
                <a:moveTo>
                  <a:pt x="378" y="247"/>
                </a:moveTo>
                <a:cubicBezTo>
                  <a:pt x="381" y="247"/>
                  <a:pt x="383" y="245"/>
                  <a:pt x="383" y="242"/>
                </a:cubicBezTo>
                <a:lnTo>
                  <a:pt x="383" y="5"/>
                </a:lnTo>
                <a:cubicBezTo>
                  <a:pt x="383" y="3"/>
                  <a:pt x="382" y="1"/>
                  <a:pt x="379" y="0"/>
                </a:cubicBezTo>
                <a:cubicBezTo>
                  <a:pt x="382" y="1"/>
                  <a:pt x="384" y="3"/>
                  <a:pt x="384" y="6"/>
                </a:cubicBezTo>
                <a:lnTo>
                  <a:pt x="384" y="241"/>
                </a:lnTo>
                <a:cubicBezTo>
                  <a:pt x="384" y="244"/>
                  <a:pt x="381" y="247"/>
                  <a:pt x="378" y="247"/>
                </a:cubicBezTo>
                <a:close/>
              </a:path>
            </a:pathLst>
          </a:custGeom>
          <a:solidFill>
            <a:srgbClr val="B4B2A9"/>
          </a:solidFill>
          <a:ln/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466725" y="2781300"/>
            <a:ext cx="3657600" cy="2352675"/>
          </a:xfrm>
          <a:custGeom>
            <a:pathLst>
              <a:path w="384" h="247">
                <a:moveTo>
                  <a:pt x="378" y="0"/>
                </a:moveTo>
                <a:cubicBezTo>
                  <a:pt x="381" y="0"/>
                  <a:pt x="384" y="2"/>
                  <a:pt x="384" y="5"/>
                </a:cubicBezTo>
                <a:cubicBezTo>
                  <a:pt x="384" y="5"/>
                  <a:pt x="383" y="4"/>
                  <a:pt x="382" y="4"/>
                </a:cubicBezTo>
                <a:lnTo>
                  <a:pt x="2" y="4"/>
                </a:lnTo>
                <a:cubicBezTo>
                  <a:pt x="1" y="4"/>
                  <a:pt x="0" y="5"/>
                  <a:pt x="0" y="6"/>
                </a:cubicBezTo>
                <a:cubicBezTo>
                  <a:pt x="0" y="3"/>
                  <a:pt x="3" y="0"/>
                  <a:pt x="6" y="0"/>
                </a:cubicBezTo>
                <a:lnTo>
                  <a:pt x="378" y="0"/>
                </a:lnTo>
                <a:close/>
              </a:path>
            </a:pathLst>
          </a:custGeom>
          <a:solidFill>
            <a:srgbClr val="01467D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466725" y="2781300"/>
            <a:ext cx="3657600" cy="2352675"/>
          </a:xfrm>
          <a:custGeom>
            <a:pathLst>
              <a:path w="384" h="247">
                <a:moveTo>
                  <a:pt x="0" y="241"/>
                </a:moveTo>
                <a:cubicBezTo>
                  <a:pt x="0" y="244"/>
                  <a:pt x="2" y="246"/>
                  <a:pt x="5" y="246"/>
                </a:cubicBezTo>
                <a:lnTo>
                  <a:pt x="379" y="246"/>
                </a:lnTo>
                <a:cubicBezTo>
                  <a:pt x="381" y="246"/>
                  <a:pt x="383" y="245"/>
                  <a:pt x="384" y="242"/>
                </a:cubicBezTo>
                <a:cubicBezTo>
                  <a:pt x="383" y="245"/>
                  <a:pt x="381" y="247"/>
                  <a:pt x="378" y="247"/>
                </a:cubicBezTo>
                <a:lnTo>
                  <a:pt x="6" y="247"/>
                </a:lnTo>
                <a:cubicBezTo>
                  <a:pt x="3" y="247"/>
                  <a:pt x="0" y="244"/>
                  <a:pt x="0" y="241"/>
                </a:cubicBezTo>
                <a:close/>
              </a:path>
            </a:pathLst>
          </a:custGeom>
          <a:solidFill>
            <a:srgbClr val="B4B2A9"/>
          </a:solidFill>
          <a:ln/>
        </p:spPr>
        <p:txBody>
          <a:bodyPr/>
          <a:p/>
        </p:txBody>
      </p:sp>
      <p:pic>
        <p:nvPicPr>
          <p:cNvPr id="2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19125" y="2933700"/>
            <a:ext cx="266700" cy="266700"/>
          </a:xfrm>
          <a:prstGeom prst="rect">
            <a:avLst/>
          </a:prstGeom>
          <a:ln/>
        </p:spPr>
      </p:pic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19125" y="3276600"/>
            <a:ext cx="3333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1467D"/>
                </a:solidFill>
                <a:latin typeface="Calibri"/>
                <a:ea typeface="Calibri"/>
              </a:rPr>
              <a:t>Social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19125" y="3543300"/>
            <a:ext cx="33337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13">
                <a:solidFill>
                  <a:srgbClr val="1A1A1A"/>
                </a:solidFill>
                <a:latin typeface="Calibri"/>
                <a:ea typeface="Calibri"/>
              </a:rPr>
              <a:t>Voice in, voice out. Usable by people who cannot read or type, because alerts are heard rather than read.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19125" y="4629150"/>
            <a:ext cx="3333750" cy="314325"/>
          </a:xfrm>
          <a:custGeom>
            <a:pathLst>
              <a:path w="350" h="33">
                <a:moveTo>
                  <a:pt x="0" y="0"/>
                </a:moveTo>
                <a:lnTo>
                  <a:pt x="350" y="0"/>
                </a:lnTo>
                <a:lnTo>
                  <a:pt x="350" y="1"/>
                </a:lnTo>
                <a:lnTo>
                  <a:pt x="0" y="1"/>
                </a:lnTo>
                <a:close/>
              </a:path>
            </a:pathLst>
          </a:custGeom>
          <a:solidFill>
            <a:srgbClr val="D8D6CE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19125" y="4733925"/>
            <a:ext cx="33337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38">
                <a:solidFill>
                  <a:srgbClr val="5F5E5A"/>
                </a:solidFill>
                <a:latin typeface="Calibri"/>
                <a:ea typeface="Calibri"/>
              </a:rPr>
              <a:t>Inclusive by construction, not by add-on.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4276725" y="2781300"/>
            <a:ext cx="3657600" cy="2352675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4276725" y="2781300"/>
            <a:ext cx="3657600" cy="2352675"/>
          </a:xfrm>
          <a:custGeom>
            <a:pathLst>
              <a:path w="384" h="247">
                <a:moveTo>
                  <a:pt x="6" y="0"/>
                </a:moveTo>
                <a:cubicBezTo>
                  <a:pt x="3" y="0"/>
                  <a:pt x="1" y="2"/>
                  <a:pt x="1" y="5"/>
                </a:cubicBezTo>
                <a:lnTo>
                  <a:pt x="1" y="242"/>
                </a:lnTo>
                <a:cubicBezTo>
                  <a:pt x="1" y="244"/>
                  <a:pt x="2" y="246"/>
                  <a:pt x="5" y="247"/>
                </a:cubicBezTo>
                <a:cubicBezTo>
                  <a:pt x="2" y="246"/>
                  <a:pt x="0" y="244"/>
                  <a:pt x="0" y="2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4B2A9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4276725" y="2781300"/>
            <a:ext cx="3657600" cy="2352675"/>
          </a:xfrm>
          <a:custGeom>
            <a:pathLst>
              <a:path w="384" h="247">
                <a:moveTo>
                  <a:pt x="378" y="247"/>
                </a:moveTo>
                <a:cubicBezTo>
                  <a:pt x="381" y="247"/>
                  <a:pt x="383" y="245"/>
                  <a:pt x="383" y="242"/>
                </a:cubicBezTo>
                <a:lnTo>
                  <a:pt x="383" y="5"/>
                </a:lnTo>
                <a:cubicBezTo>
                  <a:pt x="383" y="3"/>
                  <a:pt x="382" y="1"/>
                  <a:pt x="379" y="0"/>
                </a:cubicBezTo>
                <a:cubicBezTo>
                  <a:pt x="382" y="1"/>
                  <a:pt x="384" y="3"/>
                  <a:pt x="384" y="6"/>
                </a:cubicBezTo>
                <a:lnTo>
                  <a:pt x="384" y="241"/>
                </a:lnTo>
                <a:cubicBezTo>
                  <a:pt x="384" y="244"/>
                  <a:pt x="381" y="247"/>
                  <a:pt x="378" y="247"/>
                </a:cubicBezTo>
                <a:close/>
              </a:path>
            </a:pathLst>
          </a:custGeom>
          <a:solidFill>
            <a:srgbClr val="B4B2A9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4276725" y="2781300"/>
            <a:ext cx="3657600" cy="2352675"/>
          </a:xfrm>
          <a:custGeom>
            <a:pathLst>
              <a:path w="384" h="247">
                <a:moveTo>
                  <a:pt x="378" y="0"/>
                </a:moveTo>
                <a:cubicBezTo>
                  <a:pt x="381" y="0"/>
                  <a:pt x="384" y="2"/>
                  <a:pt x="384" y="5"/>
                </a:cubicBezTo>
                <a:cubicBezTo>
                  <a:pt x="384" y="5"/>
                  <a:pt x="383" y="4"/>
                  <a:pt x="382" y="4"/>
                </a:cubicBezTo>
                <a:lnTo>
                  <a:pt x="2" y="4"/>
                </a:lnTo>
                <a:cubicBezTo>
                  <a:pt x="1" y="4"/>
                  <a:pt x="0" y="5"/>
                  <a:pt x="0" y="6"/>
                </a:cubicBezTo>
                <a:cubicBezTo>
                  <a:pt x="0" y="3"/>
                  <a:pt x="3" y="0"/>
                  <a:pt x="6" y="0"/>
                </a:cubicBezTo>
                <a:lnTo>
                  <a:pt x="378" y="0"/>
                </a:lnTo>
                <a:close/>
              </a:path>
            </a:pathLst>
          </a:custGeom>
          <a:solidFill>
            <a:srgbClr val="01467D"/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4276725" y="2781300"/>
            <a:ext cx="3657600" cy="2352675"/>
          </a:xfrm>
          <a:custGeom>
            <a:pathLst>
              <a:path w="384" h="247">
                <a:moveTo>
                  <a:pt x="0" y="241"/>
                </a:moveTo>
                <a:cubicBezTo>
                  <a:pt x="0" y="244"/>
                  <a:pt x="2" y="246"/>
                  <a:pt x="5" y="246"/>
                </a:cubicBezTo>
                <a:lnTo>
                  <a:pt x="379" y="246"/>
                </a:lnTo>
                <a:cubicBezTo>
                  <a:pt x="381" y="246"/>
                  <a:pt x="383" y="245"/>
                  <a:pt x="384" y="242"/>
                </a:cubicBezTo>
                <a:cubicBezTo>
                  <a:pt x="383" y="245"/>
                  <a:pt x="381" y="247"/>
                  <a:pt x="378" y="247"/>
                </a:cubicBezTo>
                <a:lnTo>
                  <a:pt x="6" y="247"/>
                </a:lnTo>
                <a:cubicBezTo>
                  <a:pt x="3" y="247"/>
                  <a:pt x="0" y="244"/>
                  <a:pt x="0" y="241"/>
                </a:cubicBezTo>
                <a:close/>
              </a:path>
            </a:pathLst>
          </a:custGeom>
          <a:solidFill>
            <a:srgbClr val="B4B2A9"/>
          </a:solidFill>
          <a:ln/>
        </p:spPr>
        <p:txBody>
          <a:bodyPr/>
          <a:p/>
        </p:txBody>
      </p:sp>
      <p:pic>
        <p:nvPicPr>
          <p:cNvPr id="2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429125" y="2933700"/>
            <a:ext cx="266700" cy="266700"/>
          </a:xfrm>
          <a:prstGeom prst="rect">
            <a:avLst/>
          </a:prstGeom>
          <a:ln/>
        </p:spPr>
      </p:pic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429125" y="3276600"/>
            <a:ext cx="3333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1467D"/>
                </a:solidFill>
                <a:latin typeface="Calibri"/>
                <a:ea typeface="Calibri"/>
              </a:rPr>
              <a:t>Economic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429125" y="3543300"/>
            <a:ext cx="33337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13">
                <a:solidFill>
                  <a:srgbClr val="1A1A1A"/>
                </a:solidFill>
                <a:latin typeface="Calibri"/>
                <a:ea typeface="Calibri"/>
              </a:rPr>
              <a:t>No paid API, no cloud subscription, no proprietary SDK. It runs on phones people already own.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4429125" y="4629150"/>
            <a:ext cx="3333750" cy="314325"/>
          </a:xfrm>
          <a:custGeom>
            <a:pathLst>
              <a:path w="350" h="33">
                <a:moveTo>
                  <a:pt x="0" y="0"/>
                </a:moveTo>
                <a:lnTo>
                  <a:pt x="350" y="0"/>
                </a:lnTo>
                <a:lnTo>
                  <a:pt x="350" y="1"/>
                </a:lnTo>
                <a:lnTo>
                  <a:pt x="0" y="1"/>
                </a:lnTo>
                <a:close/>
              </a:path>
            </a:pathLst>
          </a:custGeom>
          <a:solidFill>
            <a:srgbClr val="D8D6CE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429125" y="4733925"/>
            <a:ext cx="33337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38">
                <a:solidFill>
                  <a:srgbClr val="5F5E5A"/>
                </a:solidFill>
                <a:latin typeface="Calibri"/>
                <a:ea typeface="Calibri"/>
              </a:rPr>
              <a:t>Every model is Apache 2.0 or MIT — no licence fee.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8086725" y="2781300"/>
            <a:ext cx="3657600" cy="2352675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8086725" y="2781300"/>
            <a:ext cx="3657600" cy="2352675"/>
          </a:xfrm>
          <a:custGeom>
            <a:pathLst>
              <a:path w="384" h="247">
                <a:moveTo>
                  <a:pt x="6" y="0"/>
                </a:moveTo>
                <a:cubicBezTo>
                  <a:pt x="3" y="0"/>
                  <a:pt x="1" y="2"/>
                  <a:pt x="1" y="5"/>
                </a:cubicBezTo>
                <a:lnTo>
                  <a:pt x="1" y="242"/>
                </a:lnTo>
                <a:cubicBezTo>
                  <a:pt x="1" y="244"/>
                  <a:pt x="2" y="246"/>
                  <a:pt x="5" y="247"/>
                </a:cubicBezTo>
                <a:cubicBezTo>
                  <a:pt x="2" y="246"/>
                  <a:pt x="0" y="244"/>
                  <a:pt x="0" y="2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4B2A9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8086725" y="2781300"/>
            <a:ext cx="3657600" cy="2352675"/>
          </a:xfrm>
          <a:custGeom>
            <a:pathLst>
              <a:path w="384" h="247">
                <a:moveTo>
                  <a:pt x="378" y="247"/>
                </a:moveTo>
                <a:cubicBezTo>
                  <a:pt x="381" y="247"/>
                  <a:pt x="383" y="245"/>
                  <a:pt x="383" y="242"/>
                </a:cubicBezTo>
                <a:lnTo>
                  <a:pt x="383" y="5"/>
                </a:lnTo>
                <a:cubicBezTo>
                  <a:pt x="383" y="3"/>
                  <a:pt x="382" y="1"/>
                  <a:pt x="379" y="0"/>
                </a:cubicBezTo>
                <a:cubicBezTo>
                  <a:pt x="382" y="1"/>
                  <a:pt x="384" y="3"/>
                  <a:pt x="384" y="6"/>
                </a:cubicBezTo>
                <a:lnTo>
                  <a:pt x="384" y="241"/>
                </a:lnTo>
                <a:cubicBezTo>
                  <a:pt x="384" y="244"/>
                  <a:pt x="381" y="247"/>
                  <a:pt x="378" y="247"/>
                </a:cubicBezTo>
                <a:close/>
              </a:path>
            </a:pathLst>
          </a:custGeom>
          <a:solidFill>
            <a:srgbClr val="B4B2A9"/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8086725" y="2781300"/>
            <a:ext cx="3657600" cy="2352675"/>
          </a:xfrm>
          <a:custGeom>
            <a:pathLst>
              <a:path w="384" h="247">
                <a:moveTo>
                  <a:pt x="378" y="0"/>
                </a:moveTo>
                <a:cubicBezTo>
                  <a:pt x="381" y="0"/>
                  <a:pt x="384" y="2"/>
                  <a:pt x="384" y="5"/>
                </a:cubicBezTo>
                <a:cubicBezTo>
                  <a:pt x="384" y="5"/>
                  <a:pt x="383" y="4"/>
                  <a:pt x="382" y="4"/>
                </a:cubicBezTo>
                <a:lnTo>
                  <a:pt x="2" y="4"/>
                </a:lnTo>
                <a:cubicBezTo>
                  <a:pt x="1" y="4"/>
                  <a:pt x="0" y="5"/>
                  <a:pt x="0" y="6"/>
                </a:cubicBezTo>
                <a:cubicBezTo>
                  <a:pt x="0" y="3"/>
                  <a:pt x="3" y="0"/>
                  <a:pt x="6" y="0"/>
                </a:cubicBezTo>
                <a:lnTo>
                  <a:pt x="378" y="0"/>
                </a:lnTo>
                <a:close/>
              </a:path>
            </a:pathLst>
          </a:custGeom>
          <a:solidFill>
            <a:srgbClr val="01467D"/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8086725" y="2781300"/>
            <a:ext cx="3657600" cy="2352675"/>
          </a:xfrm>
          <a:custGeom>
            <a:pathLst>
              <a:path w="384" h="247">
                <a:moveTo>
                  <a:pt x="0" y="241"/>
                </a:moveTo>
                <a:cubicBezTo>
                  <a:pt x="0" y="244"/>
                  <a:pt x="2" y="246"/>
                  <a:pt x="5" y="246"/>
                </a:cubicBezTo>
                <a:lnTo>
                  <a:pt x="379" y="246"/>
                </a:lnTo>
                <a:cubicBezTo>
                  <a:pt x="381" y="246"/>
                  <a:pt x="383" y="245"/>
                  <a:pt x="384" y="242"/>
                </a:cubicBezTo>
                <a:cubicBezTo>
                  <a:pt x="383" y="245"/>
                  <a:pt x="381" y="247"/>
                  <a:pt x="378" y="247"/>
                </a:cubicBezTo>
                <a:lnTo>
                  <a:pt x="6" y="247"/>
                </a:lnTo>
                <a:cubicBezTo>
                  <a:pt x="3" y="247"/>
                  <a:pt x="0" y="244"/>
                  <a:pt x="0" y="241"/>
                </a:cubicBezTo>
                <a:close/>
              </a:path>
            </a:pathLst>
          </a:custGeom>
          <a:solidFill>
            <a:srgbClr val="B4B2A9"/>
          </a:solidFill>
          <a:ln/>
        </p:spPr>
        <p:txBody>
          <a:bodyPr/>
          <a:p/>
        </p:txBody>
      </p:sp>
      <p:pic>
        <p:nvPicPr>
          <p:cNvPr id="2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8239125" y="2933700"/>
            <a:ext cx="266700" cy="266700"/>
          </a:xfrm>
          <a:prstGeom prst="rect">
            <a:avLst/>
          </a:prstGeom>
          <a:ln/>
        </p:spPr>
      </p:pic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239125" y="3276600"/>
            <a:ext cx="3333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1467D"/>
                </a:solidFill>
                <a:latin typeface="Calibri"/>
                <a:ea typeface="Calibri"/>
              </a:rPr>
              <a:t>Environmental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239125" y="3543300"/>
            <a:ext cx="33337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13">
                <a:solidFill>
                  <a:srgbClr val="1A1A1A"/>
                </a:solidFill>
                <a:latin typeface="Calibri"/>
                <a:ea typeface="Calibri"/>
              </a:rPr>
              <a:t>Sending text instead of audio lowers the transmitted energy per message by roughly three orders of magnitude.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8239125" y="4629150"/>
            <a:ext cx="3333750" cy="314325"/>
          </a:xfrm>
          <a:custGeom>
            <a:pathLst>
              <a:path w="350" h="33">
                <a:moveTo>
                  <a:pt x="0" y="0"/>
                </a:moveTo>
                <a:lnTo>
                  <a:pt x="350" y="0"/>
                </a:lnTo>
                <a:lnTo>
                  <a:pt x="350" y="1"/>
                </a:lnTo>
                <a:lnTo>
                  <a:pt x="0" y="1"/>
                </a:lnTo>
                <a:close/>
              </a:path>
            </a:pathLst>
          </a:custGeom>
          <a:solidFill>
            <a:srgbClr val="D8D6CE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239125" y="4733925"/>
            <a:ext cx="33337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38">
                <a:solidFill>
                  <a:srgbClr val="5F5E5A"/>
                </a:solidFill>
                <a:latin typeface="Calibri"/>
                <a:ea typeface="Calibri"/>
              </a:rPr>
              <a:t>Battery runtime effect still to be measured.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495300" y="5229225"/>
            <a:ext cx="11277600" cy="885825"/>
          </a:xfrm>
          <a:prstGeom prst="roundRect">
            <a:avLst>
              <a:gd name="adj" fmla="val 4301"/>
            </a:avLst>
          </a:prstGeom>
          <a:solidFill>
            <a:srgbClr val="FFF6EC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495300" y="5229225"/>
            <a:ext cx="11277600" cy="885825"/>
          </a:xfrm>
          <a:custGeom>
            <a:pathLst>
              <a:path w="1184" h="93">
                <a:moveTo>
                  <a:pt x="4" y="93"/>
                </a:moveTo>
                <a:cubicBezTo>
                  <a:pt x="2" y="93"/>
                  <a:pt x="0" y="91"/>
                  <a:pt x="0" y="8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3"/>
                </a:lnTo>
                <a:close/>
              </a:path>
            </a:pathLst>
          </a:custGeom>
          <a:solidFill>
            <a:srgbClr val="E46C0A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47700" y="5343525"/>
            <a:ext cx="109347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13" b="1">
                <a:solidFill>
                  <a:srgbClr val="01467D"/>
                </a:solidFill>
                <a:latin typeface="Calibri"/>
                <a:ea typeface="Calibri"/>
              </a:rPr>
              <a:t>What is measured and what is not.</a:t>
            </a:r>
            <a:r>
              <a:rPr lang="en-US" sz="1013">
                <a:solidFill>
                  <a:srgbClr val="1A1A1A"/>
                </a:solidFill>
                <a:latin typeface="Calibri"/>
                <a:ea typeface="Calibri"/>
              </a:rPr>
              <a:t> Measured: accuracy on 2,000 real-speech clips across all ten languages, Android ASR and TTS latency, and memory with the model resident. Not yet measured: field accuracy in noise, phone-class latency, human TTS legibility, and battery runtime. The benefits above are </a:t>
            </a:r>
            <a:r>
              <a:rPr lang="en-US" sz="1013" b="1">
                <a:solidFill>
                  <a:srgbClr val="1A1A1A"/>
                </a:solidFill>
                <a:latin typeface="Calibri"/>
                <a:ea typeface="Calibri"/>
              </a:rPr>
              <a:t>proposed outcomes, not measured results</a:t>
            </a:r>
            <a:r>
              <a:rPr lang="en-US" sz="1013">
                <a:solidFill>
                  <a:srgbClr val="1A1A1A"/>
                </a:solidFill>
                <a:latin typeface="Calibri"/>
                <a:ea typeface="Calibri"/>
              </a:rPr>
              <a:t> — we claim no lives saved.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0" y="6324600"/>
            <a:ext cx="12192000" cy="53340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</a:rPr>
              <a:t>B.J.P (Bug Janta Party)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5172075" y="6515100"/>
            <a:ext cx="1847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Calibri"/>
                <a:ea typeface="Calibri"/>
              </a:rPr>
              <a:t>@SIH Idea submission- Template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487150" y="65151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alibri"/>
                <a:ea typeface="Calibri"/>
              </a:rPr>
              <a:t>5 / 6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" descr="&lt;Slide style={{ width: 1280, height: 720, padding: '34px 48px 78px 48px', background: '#FFFFFF', fontFamily: 'Calibri', display: 'flex', flexDirection: 'column', position: 'relative' }}&gt;&#10;&#10;    &lt;Box style={{ position: 'absolute', left: 0, bottom: 0, width: 1280, height: 56, background: '#0070C0', flexDirection: 'row', alignItems: 'center', padding: '0 48px' }}&gt;&#10;        &lt;Box style={{ width: 210 }}&gt;&#10;            &lt;Text style={{ fontSize: 14, fontWeight: 'bold', color: '#FFFFFF' }}&gt;B.J.P (Bug Janta Party)&lt;/Text&gt;&#10;        &lt;/Box&gt;&#10;        &lt;Box style={{ flex: 1, alignItems: 'center' }}&gt;&#10;            &lt;Text style={{ fontSize: 13, color: '#FFFFFF' }}&gt;@SIH Idea submission- Template&lt;/Text&gt;&#10;        &lt;/Box&gt;&#10;        &lt;Box style={{ width: 210, alignItems: 'flex-end' }}&gt;&#10;            &lt;Text style={{ fontSize: 13, fontWeight: 'bold', color: '#FFFFFF' }}&gt;6 / 6&lt;/Text&gt;&#10;        &lt;/Box&gt;&#10;    &lt;/Box&gt;&#10;&#10;    &lt;Box style={{ flexDirection: 'row', alignItems: 'center', height: 74 }}&gt;&#10;        &lt;Box style={{ width: 150, flexDirection: 'row', alignItems: 'center', justifyContent: 'center', height: 56, borderRadius: 28, border: '1.5px solid #7030A0' }}&gt;&#10;            &lt;Text style={{ fontSize: 13, fontWeight: 'bold', color: '#7030A0', textAlign: 'center', lineHeight: 1.2 }}&gt;B.J.P{'\n'}Bug Janta{'\n'}Party&lt;/Text&gt;&#10;        &lt;/Box&gt;&#10;        &lt;Box style={{ flex: 1, alignItems: 'center' }}&gt;&#10;            &lt;Text style={{ fontSize: 44, fontWeight: 'bold', fontFamily: 'Times New Roman', color: '#1A1A1A', textAlign: 'center' }}&gt;&#10;                RESEARCH AND REFERENCES&#10;            &lt;/Text&gt;&#10;            &lt;Text style={{ fontSize: 18, color: '#5F5E5A', marginTop: 4 }}&gt;Details / Links of the reference and research work&lt;/Text&gt;&#10;        &lt;/Box&gt;&#10;        &lt;Box style={{ width: 150, alignItems: 'flex-end' }}&gt;&#10;            &lt;Image src='assets/sih_logo.png' style={{ width: 140, height: 66 }} /&gt;&#10;        &lt;/Box&gt;&#10;    &lt;/Box&gt;&#10;&#10;    &lt;Box style={{ flexDirection: 'column', marginTop: 14, flex: 1 }}&gt;&#10;&#10;        &lt;Box style={{ flexDirection: 'row', gap: 20, height: 286, alignItems: 'stretch' }}&gt;&#10;&#10;            &lt;Box style={{ flex: 1, border: '1px solid #B4B2A9', borderRadius: 6, padding: 16, flexDirection: 'column', height: 286 }}&gt;&#10;                &lt;Box style={{ flexDirection: 'row', alignItems: 'center', gap: 10 }}&gt;&#10;                    &lt;Box style={{ padding: '5px 12px', background: '#01467D', borderRadius: 4 }}&gt;&#10;                        &lt;Text style={{ fontSize: 14, fontWeight: 'bold', color: '#FFFFFF' }}&gt;Models and runtime&lt;/Text&gt;&#10;                    &lt;/Box&gt;&#10;                &lt;/Box&gt;&#10;&#10;                &lt;Box style={{ flexDirection: 'column', gap: 12, marginTop: 14 }}&gt;&#10;                    {[&#10;                        { k: 'ASR model', v: 'csukuangfj/sherpa-onnx-omnilingual-asr-1600-languages-300M-ctc-int8-2025-11-12', m: 'Apache 2.0 · 348.4 MB · INT8' },&#10;                        { k: 'TTS voices', v: 'rhasspy/piper-voices — hi_IN pratham, en_US lessac', m: 'MIT · 60.6 MB + 60.3 MB · VITS' },&#10;                        { k: 'Runtime', v: 'k2-fsa/sherpa-onnx v1.13.8 + sherpa-onnx-v1.13.8-android native libs', m: 'Apache 2.0 · arm64-v8a' },&#10;                        { k: 'Voice activity detection', v: 'Silero VAD — pause and boundary detection', m: 'MIT · 0.6 MB · RTF 0.004' },&#10;                    ].map((r, i) =&gt; (&#10;                        &lt;Box key={i} style={{ flexDirection: 'row', gap: 12, alignItems: 'flex-start' }}&gt;&#10;                            &lt;Text style={{ width: 132, fontSize: 13.5, fontWeight: 'bold', color: '#01467D', lineHeight: 1.3 }}&gt;{r.k}&lt;/Text&gt;&#10;                            &lt;Box style={{ flex: 1 }}&gt;&#10;                                &lt;Text style={{ fontSize: 13, color: '#1A1A1A', lineHeight: 1.35 }}&gt;{r.v}&lt;/Text&gt;&#10;                                &lt;Text style={{ fontSize: 12, color: '#5F5E5A', marginTop: 2 }}&gt;{r.m}&lt;/Text&gt;&#10;                            &lt;/Box&gt;&#10;                        &lt;/Box&gt;&#10;                    ))}&#10;                &lt;/Box&gt;&#10;            &lt;/Box&gt;&#10;&#10;            &lt;Box style={{ flex: 1, border: '1px solid #B4B2A9', borderRadius: 6, padding: 16, flexDirection: 'column', height: 286 }}&gt;&#10;                &lt;Box style={{ flexDirection: 'row', alignItems: 'center', gap: 10 }}&gt;&#10;                    &lt;Box style={{ padding: '5px 12px', background: '#0070C0', borderRadius: 4 }}&gt;&#10;                        &lt;Text style={{ fontSize: 14, fontWeight: 'bold', color: '#FFFFFF' }}&gt;Evaluation data and platform&lt;/Text&gt;&#10;                    &lt;/Box&gt;&#10;                &lt;/Box&gt;&#10;&#10;                &lt;Box style={{ flexDirection: 'column', gap: 12, marginTop: 14 }}&gt;&#10;                    {[&#10;                        { k: 'Speech corpus', v: 'google/fleurs — real recorded human speech, all ten PS-mandated languages', m: 'CC-BY-4.0 · 200 clips per language, 2,000 clips, 6.72 h · evaluation only, not shipped' },&#10;                        { k: 'Transport docs', v: 'developer.android.com — Bluetooth RFCOMM and Wi-Fi Direct guides', m: 'Platform documentation' },&#10;                        { k: 'Audio APIs', v: 'AudioRecord 16 kHz · AudioTrack 22 050 Hz · AudioManager STREAM_ALARM', m: 'Android platform, API 21+' },&#10;                        { k: 'Reproducibility', v: 'fleurs_eval_full.py · tts_intelligibility.py · measure_ram_all.py · end_to_end.py', m: 'Every figure in this deck is reproducible from these scripts' },&#10;                    ].map((r, i) =&gt; (&#10;                        &lt;Box key={i} style={{ flexDirection: 'row', gap: 12, alignItems: 'flex-start' }}&gt;&#10;                            &lt;Text style={{ width: 132, fontSize: 13.5, fontWeight: 'bold', color: '#01467D', lineHeight: 1.3 }}&gt;{r.k}&lt;/Text&gt;&#10;                            &lt;Box style={{ flex: 1 }}&gt;&#10;                                &lt;Text style={{ fontSize: 13, color: '#1A1A1A', lineHeight: 1.35 }}&gt;{r.v}&lt;/Text&gt;&#10;                                &lt;Text style={{ fontSize: 12, color: '#5F5E5A', marginTop: 2 }}&gt;{r.m}&lt;/Text&gt;&#10;                            &lt;/Box&gt;&#10;                        &lt;/Box&gt;&#10;                    ))}&#10;                &lt;/Box&gt;&#10;            &lt;/Box&gt;&#10;&#10;        &lt;/Box&gt;&#10;&#10;        &lt;Box style={{ flex: 1 }} /&gt;&#10;&#10;        &lt;Box style={{ padding: '14px 18px', background: '#F4F8FC', border: '1px solid #B4B2A9', borderLeft: '4px solid #01467D', borderRadius: 4 }}&gt;&#10;            &lt;Text style={{ fontSize: 14, fontWeight: 'bold', color: '#01467D' }}&gt;Licensing, component by component&lt;/Text&gt;&#10;            &lt;Text style={{ fontSize: 13, color: '#1A1A1A', lineHeight: 1.5, marginTop: 6 }}&gt;&#10;                ASR model &lt;span style={{ fontWeight: 'bold' }}&gt;Apache 2.0&lt;/span&gt; &amp;nbsp;·&amp;nbsp; Piper voices &lt;span style={{ fontWeight: 'bold' }}&gt;MIT&lt;/span&gt; &amp;nbsp;·&amp;nbsp; Silero VAD &lt;span style={{ fontWeight: 'bold' }}&gt;MIT&lt;/span&gt; &amp;nbsp;·&amp;nbsp; sherpa-onnx runtime &lt;span style={{ fontWeight: 'bold' }}&gt;Apache 2.0&lt;/span&gt; &amp;nbsp;·&amp;nbsp; AndroidX / Material &lt;span style={{ fontWeight: 'bold' }}&gt;Apache 2.0&lt;/span&gt; &amp;nbsp;·&amp;nbsp; espeak-ng-data &lt;span style={{ fontWeight: 'bold', color: '#C00000' }}&gt;GPL (phoneme dictionaries)&lt;/span&gt; — redistribution obligation flagged for review.&#10;            &lt;/Text&gt;&#10;            &lt;Text style={{ fontSize: 12.5, color: '#5F5E5A', lineHeight: 1.4, marginTop: 6 }}&gt;&#10;                No CC-BY-NC component ships in the product; MMS-TTS was evaluated and rejected on that basis. Pairing is deliberately manual, so the sender of an emergency alert is authenticated.&#10;            &lt;/Text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457200" y="409575"/>
            <a:ext cx="1428750" cy="533400"/>
          </a:xfrm>
          <a:prstGeom prst="roundRect">
            <a:avLst>
              <a:gd name="adj" fmla="val 50000"/>
            </a:avLst>
          </a:prstGeom>
          <a:ln w="1905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76300" y="409575"/>
            <a:ext cx="600075" cy="5429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B.J.P</a:t>
            </a:r>
            <a:endParaRPr/>
          </a:p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Bug Janta</a:t>
            </a:r>
            <a:endParaRPr/>
          </a:p>
          <a:p>
            <a:pPr algn="ctr">
              <a:lnSpc>
                <a:spcPct val="120000"/>
              </a:lnSpc>
            </a:pPr>
            <a:r>
              <a:rPr lang="en-US" sz="975" b="1">
                <a:solidFill>
                  <a:srgbClr val="7030A0"/>
                </a:solidFill>
                <a:latin typeface="Calibri"/>
                <a:ea typeface="Calibri"/>
              </a:rPr>
              <a:t>Party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2962275" y="304800"/>
            <a:ext cx="6267450" cy="504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300" b="1">
                <a:solidFill>
                  <a:srgbClr val="1A1A1A"/>
                </a:solidFill>
                <a:latin typeface="Times New Roman"/>
                <a:ea typeface="Times New Roman"/>
              </a:rPr>
              <a:t>RESEARCH AND REFERENCES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4210050" y="847725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5F5E5A"/>
                </a:solidFill>
                <a:latin typeface="Calibri"/>
                <a:ea typeface="Calibri"/>
              </a:rPr>
              <a:t>Details / Links of the reference and research work</a:t>
            </a:r>
            <a:endParaRPr/>
          </a:p>
        </p:txBody>
      </p:sp>
      <p:pic>
        <p:nvPicPr>
          <p:cNvPr id="275" name=""/>
          <p:cNvPicPr>
            <a:picLocks noChangeAspect="1"/>
          </p:cNvPicPr>
          <p:nvPr/>
        </p:nvPicPr>
        <p:blipFill>
          <a:blip r:embed="rId1"/>
          <a:srcRect l="0" t="84" r="0" b="84"/>
          <a:stretch>
            <a:fillRect/>
          </a:stretch>
        </p:blipFill>
        <p:spPr>
          <a:xfrm rot="0" flipH="0" flipV="0">
            <a:off x="10401300" y="361950"/>
            <a:ext cx="1333500" cy="628650"/>
          </a:xfrm>
          <a:prstGeom prst="rect">
            <a:avLst/>
          </a:prstGeom>
          <a:ln/>
        </p:spPr>
      </p:pic>
      <p:sp>
        <p:nvSpPr>
          <p:cNvPr id="276" name=""/>
          <p:cNvSpPr/>
          <p:nvPr/>
        </p:nvSpPr>
        <p:spPr>
          <a:xfrm rot="0" flipH="0" flipV="0">
            <a:off x="457200" y="1162050"/>
            <a:ext cx="5543550" cy="2724150"/>
          </a:xfrm>
          <a:prstGeom prst="roundRect">
            <a:avLst>
              <a:gd name="adj" fmla="val 2098"/>
            </a:avLst>
          </a:prstGeom>
          <a:ln w="12700">
            <a:solidFill>
              <a:srgbClr val="B4B2A9"/>
            </a:solidFill>
            <a:prstDash val="solid"/>
          </a:ln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609600" y="1314450"/>
            <a:ext cx="1495425" cy="257175"/>
          </a:xfrm>
          <a:prstGeom prst="roundRect">
            <a:avLst>
              <a:gd name="adj" fmla="val 14815"/>
            </a:avLst>
          </a:prstGeom>
          <a:solidFill>
            <a:srgbClr val="01467D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23900" y="1362075"/>
            <a:ext cx="1266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</a:rPr>
              <a:t>Models and runtime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9600" y="1704975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13" b="1">
                <a:solidFill>
                  <a:srgbClr val="01467D"/>
                </a:solidFill>
                <a:latin typeface="Calibri"/>
                <a:ea typeface="Calibri"/>
              </a:rPr>
              <a:t>ASR model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981200" y="1704975"/>
            <a:ext cx="38671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csukuangfj/sherpa-onnx-omnilingual-asr-1600-languages-300M-ctc-int8-2025-11-12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981200" y="2133600"/>
            <a:ext cx="386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Apache 2.0 · 348.4 MB · INT8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09600" y="2390775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13" b="1">
                <a:solidFill>
                  <a:srgbClr val="01467D"/>
                </a:solidFill>
                <a:latin typeface="Calibri"/>
                <a:ea typeface="Calibri"/>
              </a:rPr>
              <a:t>TTS voices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981200" y="2390775"/>
            <a:ext cx="3867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rhasspy/piper-voices — hi_IN pratham, en_US lessac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981200" y="2619375"/>
            <a:ext cx="386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MIT · 60.6 MB + 60.3 MB · VITS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09600" y="2876550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13" b="1">
                <a:solidFill>
                  <a:srgbClr val="01467D"/>
                </a:solidFill>
                <a:latin typeface="Calibri"/>
                <a:ea typeface="Calibri"/>
              </a:rPr>
              <a:t>Runtime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981200" y="2876550"/>
            <a:ext cx="3867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k2-fsa/sherpa-onnx v1.13.8 + sherpa-onnx-v1.13.8-android native libs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981200" y="3105150"/>
            <a:ext cx="386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Apache 2.0 · arm64-v8a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09600" y="3362325"/>
            <a:ext cx="12573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1013" b="1">
                <a:solidFill>
                  <a:srgbClr val="01467D"/>
                </a:solidFill>
                <a:latin typeface="Calibri"/>
                <a:ea typeface="Calibri"/>
              </a:rPr>
              <a:t>Voice activity detection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981200" y="3362325"/>
            <a:ext cx="3867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Silero VAD — pause and boundary detection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981200" y="3590925"/>
            <a:ext cx="386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MIT · 0.6 MB · RTF 0.004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191250" y="1162050"/>
            <a:ext cx="5543550" cy="2724150"/>
          </a:xfrm>
          <a:prstGeom prst="roundRect">
            <a:avLst>
              <a:gd name="adj" fmla="val 2098"/>
            </a:avLst>
          </a:prstGeom>
          <a:ln w="12700">
            <a:solidFill>
              <a:srgbClr val="B4B2A9"/>
            </a:solidFill>
            <a:prstDash val="solid"/>
          </a:ln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6343650" y="1314450"/>
            <a:ext cx="2066925" cy="257175"/>
          </a:xfrm>
          <a:prstGeom prst="roundRect">
            <a:avLst>
              <a:gd name="adj" fmla="val 14815"/>
            </a:avLst>
          </a:prstGeom>
          <a:solidFill>
            <a:srgbClr val="0070C0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457950" y="136207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</a:rPr>
              <a:t>Evaluation data and platform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343650" y="1704975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13" b="1">
                <a:solidFill>
                  <a:srgbClr val="01467D"/>
                </a:solidFill>
                <a:latin typeface="Calibri"/>
                <a:ea typeface="Calibri"/>
              </a:rPr>
              <a:t>Speech corpus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715250" y="1704975"/>
            <a:ext cx="38671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google/fleurs — real recorded human speech, all ten PS-mandated languages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715250" y="2133600"/>
            <a:ext cx="386715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CC-BY-4.0 · 200 clips per language, 2,000 clips, 6.72 h · evaluation only, not shipped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343650" y="2524125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13" b="1">
                <a:solidFill>
                  <a:srgbClr val="01467D"/>
                </a:solidFill>
                <a:latin typeface="Calibri"/>
                <a:ea typeface="Calibri"/>
              </a:rPr>
              <a:t>Transport docs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715250" y="2524125"/>
            <a:ext cx="38671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developer.android.com — Bluetooth RFCOMM and Wi-Fi Direct guides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715250" y="2952750"/>
            <a:ext cx="386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Platform documentation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343650" y="3209925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13" b="1">
                <a:solidFill>
                  <a:srgbClr val="01467D"/>
                </a:solidFill>
                <a:latin typeface="Calibri"/>
                <a:ea typeface="Calibri"/>
              </a:rPr>
              <a:t>Audio APIs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715250" y="3209925"/>
            <a:ext cx="38671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AudioRecord 16 kHz · AudioTrack 22 050 Hz · AudioManager STREAM_ALARM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715250" y="3638550"/>
            <a:ext cx="386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Android platform, API 21+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343650" y="3895725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13" b="1">
                <a:solidFill>
                  <a:srgbClr val="01467D"/>
                </a:solidFill>
                <a:latin typeface="Calibri"/>
                <a:ea typeface="Calibri"/>
              </a:rPr>
              <a:t>Reproducibility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7715250" y="3895725"/>
            <a:ext cx="38671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fleurs_eval_full.py · tts_intelligibility.py · measure_ram_all.py · end_to_end.py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715250" y="4324350"/>
            <a:ext cx="386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</a:rPr>
              <a:t>Every figure in this deck is reproducible from these scripts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495300" y="4924425"/>
            <a:ext cx="11277600" cy="1190625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495300" y="4924425"/>
            <a:ext cx="11277600" cy="1190625"/>
          </a:xfrm>
          <a:custGeom>
            <a:pathLst>
              <a:path w="1184" h="125">
                <a:moveTo>
                  <a:pt x="4" y="125"/>
                </a:moveTo>
                <a:cubicBezTo>
                  <a:pt x="2" y="125"/>
                  <a:pt x="0" y="123"/>
                  <a:pt x="0" y="12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5"/>
                </a:lnTo>
                <a:close/>
              </a:path>
            </a:pathLst>
          </a:custGeom>
          <a:solidFill>
            <a:srgbClr val="01467D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66750" y="5057775"/>
            <a:ext cx="10896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1467D"/>
                </a:solidFill>
                <a:latin typeface="Calibri"/>
                <a:ea typeface="Calibri"/>
              </a:rPr>
              <a:t>Licensing, component by component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66750" y="5276850"/>
            <a:ext cx="108966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ASR model </a:t>
            </a:r>
            <a:r>
              <a:rPr lang="en-US" sz="975" b="1">
                <a:solidFill>
                  <a:srgbClr val="1A1A1A"/>
                </a:solidFill>
                <a:latin typeface="Calibri"/>
                <a:ea typeface="Calibri"/>
              </a:rPr>
              <a:t>Apache 2.0</a:t>
            </a: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  ·  Piper voices </a:t>
            </a:r>
            <a:r>
              <a:rPr lang="en-US" sz="975" b="1">
                <a:solidFill>
                  <a:srgbClr val="1A1A1A"/>
                </a:solidFill>
                <a:latin typeface="Calibri"/>
                <a:ea typeface="Calibri"/>
              </a:rPr>
              <a:t>MIT</a:t>
            </a: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  ·  Silero VAD </a:t>
            </a:r>
            <a:r>
              <a:rPr lang="en-US" sz="975" b="1">
                <a:solidFill>
                  <a:srgbClr val="1A1A1A"/>
                </a:solidFill>
                <a:latin typeface="Calibri"/>
                <a:ea typeface="Calibri"/>
              </a:rPr>
              <a:t>MIT</a:t>
            </a: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  ·  sherpa-onnx runtime </a:t>
            </a:r>
            <a:r>
              <a:rPr lang="en-US" sz="975" b="1">
                <a:solidFill>
                  <a:srgbClr val="1A1A1A"/>
                </a:solidFill>
                <a:latin typeface="Calibri"/>
                <a:ea typeface="Calibri"/>
              </a:rPr>
              <a:t>Apache 2.0</a:t>
            </a: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  ·  AndroidX / Material </a:t>
            </a:r>
            <a:r>
              <a:rPr lang="en-US" sz="975" b="1">
                <a:solidFill>
                  <a:srgbClr val="1A1A1A"/>
                </a:solidFill>
                <a:latin typeface="Calibri"/>
                <a:ea typeface="Calibri"/>
              </a:rPr>
              <a:t>Apache 2.0</a:t>
            </a: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  ·  espeak-ng-data </a:t>
            </a:r>
            <a:r>
              <a:rPr lang="en-US" sz="975" b="1">
                <a:solidFill>
                  <a:srgbClr val="C00000"/>
                </a:solidFill>
                <a:latin typeface="Calibri"/>
                <a:ea typeface="Calibri"/>
              </a:rPr>
              <a:t>GPL (phoneme dictionaries)</a:t>
            </a:r>
            <a:r>
              <a:rPr lang="en-US" sz="975">
                <a:solidFill>
                  <a:srgbClr val="1A1A1A"/>
                </a:solidFill>
                <a:latin typeface="Calibri"/>
                <a:ea typeface="Calibri"/>
              </a:rPr>
              <a:t> — redistribution obligation flagged for review.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66750" y="5781675"/>
            <a:ext cx="10896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5F5E5A"/>
                </a:solidFill>
                <a:latin typeface="Calibri"/>
                <a:ea typeface="Calibri"/>
              </a:rPr>
              <a:t>No CC-BY-NC component ships in the product; MMS-TTS was evaluated and rejected on that basis. Pairing is deliberately manual, so the sender of an emergency alert is authenticated.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0" y="6324600"/>
            <a:ext cx="12192000" cy="53340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</a:rPr>
              <a:t>B.J.P (Bug Janta Party)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172075" y="6515100"/>
            <a:ext cx="1847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Calibri"/>
                <a:ea typeface="Calibri"/>
              </a:rPr>
              <a:t>@SIH Idea submission- Template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1487150" y="65151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alibri"/>
                <a:ea typeface="Calibri"/>
              </a:rPr>
              <a:t>6 / 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2026-09-21T11:33:18Z</dcterms:created>
  <dcterms:modified xsi:type="dcterms:W3CDTF">2026-09-21T11:33:18Z</dcterms:modified>
</cp:coreProperties>
</file>